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  <p:sldId id="273" r:id="rId2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61E4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252F5C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逻辑复制支持DDL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</a:rPr>
              <a:t>功能开发总结汇报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工作目标达成 | 重点复盘 | 未来计划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114800"/>
            <a:ext cx="137160" cy="10287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97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PostgreSQL 逻辑复制团队  |  2026年6月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80160"/>
            <a:ext cx="9144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7160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80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工作目标达成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代码修改与文档撰写完成情况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468880"/>
            <a:ext cx="9144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56032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82880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重点复盘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2880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技术方案设计与实现亮点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657600"/>
            <a:ext cx="9144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749040"/>
            <a:ext cx="731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82880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121"/>
                </a:solidFill>
              </a:rPr>
              <a:t>未来计划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2880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后续工作规划与优化方向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工作目标达成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01  CODE &amp; DOCS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8+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核心代码文件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71600"/>
            <a:ext cx="822960" cy="822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</a:rPr>
              <a:t>6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338328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设计/实现文档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82296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2240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3</a:t>
            </a:r>
            <a:endParaRPr lang="en-US" sz="3600" dirty="0"/>
          </a:p>
        </p:txBody>
      </p:sp>
      <p:sp>
        <p:nvSpPr>
          <p:cNvPr id="17" name="Text 12"/>
          <p:cNvSpPr/>
          <p:nvPr/>
        </p:nvSpPr>
        <p:spPr>
          <a:xfrm>
            <a:off x="621792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新增系统表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完成进度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3794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用户接口扩展 (CREATE/ALTER PUBLICATION/SUBSCRIPTION)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212080" y="3840480"/>
            <a:ext cx="32004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Shape 16"/>
          <p:cNvSpPr/>
          <p:nvPr/>
        </p:nvSpPr>
        <p:spPr>
          <a:xfrm>
            <a:off x="5212080" y="3840480"/>
            <a:ext cx="32004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7"/>
          <p:cNvSpPr/>
          <p:nvPr/>
        </p:nvSpPr>
        <p:spPr>
          <a:xfrm>
            <a:off x="8503920" y="37947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100%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4087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系统表 pg_publication_sync 设计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212080" y="4133088"/>
            <a:ext cx="32004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Shape 20"/>
          <p:cNvSpPr/>
          <p:nvPr/>
        </p:nvSpPr>
        <p:spPr>
          <a:xfrm>
            <a:off x="5212080" y="4133088"/>
            <a:ext cx="32004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1"/>
          <p:cNvSpPr/>
          <p:nvPr/>
        </p:nvSpPr>
        <p:spPr>
          <a:xfrm>
            <a:off x="8503920" y="4087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100%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48640" y="43799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发布端 DDL 捕获机制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212080" y="4425696"/>
            <a:ext cx="32004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4"/>
          <p:cNvSpPr/>
          <p:nvPr/>
        </p:nvSpPr>
        <p:spPr>
          <a:xfrm>
            <a:off x="5212080" y="4425696"/>
            <a:ext cx="272034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5"/>
          <p:cNvSpPr/>
          <p:nvPr/>
        </p:nvSpPr>
        <p:spPr>
          <a:xfrm>
            <a:off x="8503920" y="43799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85%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48640" y="46725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订阅端 DDL 应用逻辑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212080" y="4718304"/>
            <a:ext cx="3200400" cy="164592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Shape 28"/>
          <p:cNvSpPr/>
          <p:nvPr/>
        </p:nvSpPr>
        <p:spPr>
          <a:xfrm>
            <a:off x="5212080" y="4718304"/>
            <a:ext cx="22402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29"/>
          <p:cNvSpPr/>
          <p:nvPr/>
        </p:nvSpPr>
        <p:spPr>
          <a:xfrm>
            <a:off x="8503920" y="4672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代码修改详情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01  CODE CHANGES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修改文件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45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gram.y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扩展 CREATE/ALTER PUBLICATION/SUBSCRIPTION 语法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39112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75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publicationcmds.c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2677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publication DDL 选项解析与校验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69464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69464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06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subscriptioncmds.c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7980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subscription DDL 选项解析与校验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099816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99816"/>
            <a:ext cx="54864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136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utility.c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3284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DDL 捕获与消息发布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630168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630168"/>
            <a:ext cx="54864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667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pg_publication_sync.h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8587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新系统表头文件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42062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60520"/>
            <a:ext cx="54864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197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pg_publication_sync.dat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4389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新系统表数据文件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DDL 类型支持矩阵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DDL类型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TABLE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 ALL TABLES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178308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table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205740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index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1792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233172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3"/>
          <p:cNvSpPr/>
          <p:nvPr/>
        </p:nvSpPr>
        <p:spPr>
          <a:xfrm>
            <a:off x="493776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sequence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1792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260604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93776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trigger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46320" y="288036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493776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view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1792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31520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846320" y="315468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93776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rule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1792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31520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846320" y="342900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1" name="Text 59"/>
          <p:cNvSpPr/>
          <p:nvPr/>
        </p:nvSpPr>
        <p:spPr>
          <a:xfrm>
            <a:off x="493776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schema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1792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3152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846320" y="370332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93776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function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1792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3152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846320" y="397764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9" name="Text 67"/>
          <p:cNvSpPr/>
          <p:nvPr/>
        </p:nvSpPr>
        <p:spPr>
          <a:xfrm>
            <a:off x="4937760" y="3977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type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21792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3152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493776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domain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21792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3152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4846320" y="4526280"/>
            <a:ext cx="3840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" name="Text 75"/>
          <p:cNvSpPr/>
          <p:nvPr/>
        </p:nvSpPr>
        <p:spPr>
          <a:xfrm>
            <a:off x="493776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extension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17920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—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731520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4846320" y="4754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* FOR TABLE/FOR TABLES IN SCHEMA 只支持 table 和 index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文档撰写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01  DOCUMENTATION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98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需求文档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逻辑复制支持DDL需求分析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需求背景、功能规划、接口设计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73152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298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设计文档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逻辑复制支持DDL详细设计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系统表设计、发布/订阅端方案、测试策略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77440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87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技术文档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新增逻辑复制同步系统表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pg_publication_sync 表结构、字段说明、索引设计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77440"/>
            <a:ext cx="73152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487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交付文档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逻辑复制支持DDL开发交付计划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阶段划分、任务分解、工时估算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75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分析文档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DDL写入WAL日志的影响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WAL 日志记录策略、性能影响分析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56616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566160"/>
            <a:ext cx="73152" cy="1005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6758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评审文档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</a:rPr>
              <a:t>支持DDL评审相关问题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37760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评审意见、争议点、解决方案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Header bar -->
      <!-- Header title -->
      <p:sp>
        <p:nvSpPr>
          <p:cNvPr id="3" name="Title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技术方案设计</a:t>
            </a:r>
          </a:p>
        </p:txBody>
      </p:sp>
      <!-- Header subtitle -->
      <p:sp>
        <p:nvSpPr>
          <p:cNvPr id="4" name="Subtitle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ARCHITECTURE</a:t>
            </a:r>
          </a:p>
        </p:txBody>
      </p:sp>
      <!-- Slide number -->
      <!-- Section title -->
      <!-- ============ LEFT SIDE: PUBLISHER ============ -->
      <!-- Publisher label -->
      <!-- Box 1: ProcessUtility -->
      <!-- Arrow 1 -->
      <!-- Box 2: CapturePublicationSyncDDL -->
      <!-- Arrow 2 -->
      <!-- Box 3: pg_publication_sync table -->
      <!-- Arrow 3: Down from table -->
      <!-- Box 4: Logical Decoding -->
      <!-- Arrow 4: Down from logical decoding -->
      <!-- Box 5: pgoutput -->
      <!-- ============ CENTER: Replication Protocol ============ -->
      <!-- Long arrow across center -->
      <!-- Replication Protocol label -->
      <!-- ============ RIGHT SIDE: SUBSCRIBER ============ -->
      <!-- Subscriber label -->
      <!-- Box 6: apply_handle_ddl -->
      <!-- Arrow 5: down from apply_handle_ddl -->
      <!-- Box 7: execute_publication_sync_sql_command -->
      <!-- Arrow 6: down to Replay Framework -->
      <!-- Box 8: Replay Framework -->
      <!-- Arrow 7: down from Replay Framework -->
      <!-- ============ SQL ADAPTER LAYER ============ -->
      <!-- SQL Adapter Layer label -->
      <!-- Horizontal branch line -->
      <!-- Three vertical drops to adapters -->
      <!-- Adapter Box 1: Babelfish -->
      <!-- Adapter Box 2: Oracle -->
      <!-- Adapter Box 3: MySQL -->
      <p:sp>
        <p:nvSpPr>
          <p:cNvPr id="5" name="TextBox 4"/>
          <p:cNvSpPr txBox="1"/>
          <p:nvPr/>
        </p:nvSpPr>
        <p:spPr>
          <a:xfrm>
            <a:off x="27432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统一DDL复制架构（Capture → Filter → Transport → Replay → Adapter）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DDL Producer Layer</a:t>
            </a:r>
          </a:p>
          <a:p>
            <a:r>
              <a:t>ProcessUtility → CapturePublicationSyncDDL → Rule Filter → pg_publication_sync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Replication Transport Layer</a:t>
            </a:r>
          </a:p>
          <a:p>
            <a:r>
              <a:t>Logical Decoding → pgoutput → Replication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9260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DDL Replay Framework</a:t>
            </a:r>
          </a:p>
          <a:p>
            <a:r>
              <a:t>apply_handle_ddl → Rule Filter → Replay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023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PostgreSQL Adapter | Babelfish Adapter | Oracle Adapter | MySQL Adapter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实现亮点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HIGHLIGHTS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精确的 DDL 类型控制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通过 bitmask 设计精细化控制每个publication和subscription的DDL同步范围，支持11种DDL类型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用户接口友好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1965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通过 CREATE/ALTER PUBLICATION/SUBSCRIPTION 的 WITH (ddl='table,index,...') 语法直接声明，零学习成本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089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与现有架构无缝融合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008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pg_publication_sync 类似 pg_publication_rel 的扩展控制表，遵循 PostgreSQL catalog 设计规范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29260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66928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向后兼容设计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93776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默认不启用 DDL 同步，现有逻辑复制功能完全不受影响，可平滑升级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性能与风险分析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DDL 同步开销预估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DDL 捕获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1627632"/>
            <a:ext cx="57912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5450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低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WAL 写入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20240" y="2130552"/>
            <a:ext cx="173736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560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逻辑解码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20240" y="2633472"/>
            <a:ext cx="1389888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订阅端应用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920240" y="3136392"/>
            <a:ext cx="28956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86156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总计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0240" y="3639312"/>
            <a:ext cx="347472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57%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风险矩阵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463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风险项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等级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783080"/>
            <a:ext cx="38404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17830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DDL 执行失败导致复制中断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18120" y="1874520"/>
            <a:ext cx="6400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7818120" y="1874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221992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2219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安全漏洞（SQL 注入）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18120" y="2313432"/>
            <a:ext cx="64008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7818120" y="23134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高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660904"/>
            <a:ext cx="38404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266090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性能影响（大量 DDL）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18120" y="2752344"/>
            <a:ext cx="6400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27523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3099816"/>
            <a:ext cx="3840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09981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依赖关系处理复杂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818120" y="3191256"/>
            <a:ext cx="6400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7818120" y="319125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3538728"/>
            <a:ext cx="3840480" cy="43891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35387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</a:rPr>
              <a:t>升级兼容性问题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818120" y="3630168"/>
            <a:ext cx="64008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7818120" y="3630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低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能力图谱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CAPABILITY ATLAS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🛠️ 测试工具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pgbench 压测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856232"/>
            <a:ext cx="155448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627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85%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Tapd 测试管理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95144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295144"/>
            <a:ext cx="146304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Jest 单元测试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34056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34056"/>
            <a:ext cx="137160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1920240" y="25054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75%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Playwright E2E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72968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172968"/>
            <a:ext cx="109728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92024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60%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perf 性能分析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611880"/>
            <a:ext cx="118872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1920240" y="3383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65%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14600" y="109728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14600" y="109728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26060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⚙️ 数据库原理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1627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MVCC 并发控制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1856232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2606040" y="1856232"/>
            <a:ext cx="1609344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069080" y="16276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88%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06040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WAL 日志机制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06040" y="2295144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Shape 36"/>
          <p:cNvSpPr/>
          <p:nvPr/>
        </p:nvSpPr>
        <p:spPr>
          <a:xfrm>
            <a:off x="2606040" y="2295144"/>
            <a:ext cx="164592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4069080" y="20665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90%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0604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B+树索引原理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6040" y="2734056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Shape 40"/>
          <p:cNvSpPr/>
          <p:nvPr/>
        </p:nvSpPr>
        <p:spPr>
          <a:xfrm>
            <a:off x="2606040" y="2734056"/>
            <a:ext cx="155448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069080" y="25054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85%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606040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查询优化器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606040" y="3172968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Shape 44"/>
          <p:cNvSpPr/>
          <p:nvPr/>
        </p:nvSpPr>
        <p:spPr>
          <a:xfrm>
            <a:off x="2606040" y="3172968"/>
            <a:ext cx="1316736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406908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72%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60604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事务隔离级别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6040" y="3611880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0" name="Shape 48"/>
          <p:cNvSpPr/>
          <p:nvPr/>
        </p:nvSpPr>
        <p:spPr>
          <a:xfrm>
            <a:off x="2606040" y="3611880"/>
            <a:ext cx="146304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4069080" y="3383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80%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425196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425196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📚 基础知识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4782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操作系统原理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5010912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7" name="Shape 55"/>
          <p:cNvSpPr/>
          <p:nvPr/>
        </p:nvSpPr>
        <p:spPr>
          <a:xfrm>
            <a:off x="457200" y="5010912"/>
            <a:ext cx="1426464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1920240" y="47823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78%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7200" y="52212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计算机网络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7200" y="5449824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1" name="Shape 59"/>
          <p:cNvSpPr/>
          <p:nvPr/>
        </p:nvSpPr>
        <p:spPr>
          <a:xfrm>
            <a:off x="457200" y="5449824"/>
            <a:ext cx="128016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2" name="Text 60"/>
          <p:cNvSpPr/>
          <p:nvPr/>
        </p:nvSpPr>
        <p:spPr>
          <a:xfrm>
            <a:off x="1920240" y="52212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70%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57200" y="5660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数据结构算法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5888736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5" name="Shape 63"/>
          <p:cNvSpPr/>
          <p:nvPr/>
        </p:nvSpPr>
        <p:spPr>
          <a:xfrm>
            <a:off x="457200" y="5888736"/>
            <a:ext cx="137160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6" name="Text 64"/>
          <p:cNvSpPr/>
          <p:nvPr/>
        </p:nvSpPr>
        <p:spPr>
          <a:xfrm>
            <a:off x="1920240" y="5660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75%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57200" y="6099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分布式系统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" y="6327648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9" name="Shape 67"/>
          <p:cNvSpPr/>
          <p:nvPr/>
        </p:nvSpPr>
        <p:spPr>
          <a:xfrm>
            <a:off x="457200" y="6327648"/>
            <a:ext cx="1243584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0" name="Text 68"/>
          <p:cNvSpPr/>
          <p:nvPr/>
        </p:nvSpPr>
        <p:spPr>
          <a:xfrm>
            <a:off x="1920240" y="6099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68%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5720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密码学基础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57200" y="6766560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3" name="Shape 71"/>
          <p:cNvSpPr/>
          <p:nvPr/>
        </p:nvSpPr>
        <p:spPr>
          <a:xfrm>
            <a:off x="457200" y="6766560"/>
            <a:ext cx="1005840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4" name="Text 72"/>
          <p:cNvSpPr/>
          <p:nvPr/>
        </p:nvSpPr>
        <p:spPr>
          <a:xfrm>
            <a:off x="192024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55%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514600" y="425196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2514600" y="4251960"/>
            <a:ext cx="20116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7" name="Text 75"/>
          <p:cNvSpPr/>
          <p:nvPr/>
        </p:nvSpPr>
        <p:spPr>
          <a:xfrm>
            <a:off x="26060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🗄️ 数据库使用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2606040" y="4782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PostgreSQL 高级特性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606040" y="5010912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0" name="Shape 78"/>
          <p:cNvSpPr/>
          <p:nvPr/>
        </p:nvSpPr>
        <p:spPr>
          <a:xfrm>
            <a:off x="2606040" y="5010912"/>
            <a:ext cx="155448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1" name="Text 79"/>
          <p:cNvSpPr/>
          <p:nvPr/>
        </p:nvSpPr>
        <p:spPr>
          <a:xfrm>
            <a:off x="4069080" y="47823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85%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2606040" y="52212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SQL 调优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2606040" y="5449824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4" name="Shape 82"/>
          <p:cNvSpPr/>
          <p:nvPr/>
        </p:nvSpPr>
        <p:spPr>
          <a:xfrm>
            <a:off x="2606040" y="5449824"/>
            <a:ext cx="1463040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5" name="Text 83"/>
          <p:cNvSpPr/>
          <p:nvPr/>
        </p:nvSpPr>
        <p:spPr>
          <a:xfrm>
            <a:off x="4069080" y="52212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80%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2606040" y="56601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高可用架构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606040" y="5888736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8" name="Shape 86"/>
          <p:cNvSpPr/>
          <p:nvPr/>
        </p:nvSpPr>
        <p:spPr>
          <a:xfrm>
            <a:off x="2606040" y="5888736"/>
            <a:ext cx="137160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9" name="Text 87"/>
          <p:cNvSpPr/>
          <p:nvPr/>
        </p:nvSpPr>
        <p:spPr>
          <a:xfrm>
            <a:off x="4069080" y="5660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75%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2606040" y="6099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备份恢复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606040" y="6327648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2" name="Shape 90"/>
          <p:cNvSpPr/>
          <p:nvPr/>
        </p:nvSpPr>
        <p:spPr>
          <a:xfrm>
            <a:off x="2606040" y="6327648"/>
            <a:ext cx="1426464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3" name="Text 91"/>
          <p:cNvSpPr/>
          <p:nvPr/>
        </p:nvSpPr>
        <p:spPr>
          <a:xfrm>
            <a:off x="4069080" y="60990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78%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2606040" y="6537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</a:rPr>
              <a:t>集群管理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2606040" y="6766560"/>
            <a:ext cx="1828800" cy="12801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6" name="Shape 94"/>
          <p:cNvSpPr/>
          <p:nvPr/>
        </p:nvSpPr>
        <p:spPr>
          <a:xfrm>
            <a:off x="2606040" y="6766560"/>
            <a:ext cx="1280160" cy="1280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7" name="Text 95"/>
          <p:cNvSpPr/>
          <p:nvPr/>
        </p:nvSpPr>
        <p:spPr>
          <a:xfrm>
            <a:off x="4069080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70%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36576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2121"/>
                </a:solidFill>
              </a:rPr>
              <a:t>能力等级：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1188720" y="4617720"/>
            <a:ext cx="4572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0" name="Text 98"/>
          <p:cNvSpPr/>
          <p:nvPr/>
        </p:nvSpPr>
        <p:spPr>
          <a:xfrm>
            <a:off x="1691640" y="4572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80-100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2103120" y="4617720"/>
            <a:ext cx="457200" cy="164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2" name="Text 100"/>
          <p:cNvSpPr/>
          <p:nvPr/>
        </p:nvSpPr>
        <p:spPr>
          <a:xfrm>
            <a:off x="2606040" y="4572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65-79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3017520" y="4617720"/>
            <a:ext cx="45720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4" name="Text 102"/>
          <p:cNvSpPr/>
          <p:nvPr/>
        </p:nvSpPr>
        <p:spPr>
          <a:xfrm>
            <a:off x="3520440" y="4572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&lt;65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优势与不足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02  STRENGTHS &amp; WEAKNESSES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优势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169164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PostgreSQL 内核深度理解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长期参与 PG 内核开发，熟悉 MVCC、WAL、逻辑解码等核心机制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242316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23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逻辑复制全链路掌握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覆盖发布端、传输、解码、订阅端完整链路，代码实现能力扎实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315468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54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文档与代码质量并重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配套设计文档、实现文档、测试文档，交付质量有保障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88620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AI 辅助编程效率高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善用 AI 工具提升开发效率，保持代码风格一致性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097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⚠️ 不足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00600" y="169164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测试覆盖深度待提升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E2E 测试用例较少，边界场景覆盖不足，部分极端场景未充分验证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242316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423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性能基准数据不足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697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DDL 同步对复制性能的影响缺乏量化数据，尚未做大规模压力测试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15468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1546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跨版本兼容性待验证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429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不同 PG 版本间的 DDL 同步兼容性未系统测试，可能存在边界问题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3886200"/>
            <a:ext cx="54864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38862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</a:rPr>
              <a:t>错误恢复机制不完善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订阅端 DDL 执行失败后的回滚和重试机制尚需完善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总体评价：代码能力扎实，文档规范完整，但测试深度和性能验证需持续加强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未来计划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NEXT STEPS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语法扩展与验证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修改 gram.y 扩展语法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添加 DDL 选项解析函数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891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实现选项校验逻辑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32004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更新 pg_publication 系统表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429768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0312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7627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系统表创建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7627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创建 pg_publication_sync.h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7627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创建 pg_publication_sync.dat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7627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更新 Catalog.pm 映射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76272" y="32004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创建初始数据加载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40280" y="429768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24028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1363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发布端实现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1363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DDL 捕获机制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1363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消息格式化与插入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1363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表增删 A/D 消息发布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977640" y="429768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97764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7784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7784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57784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5099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订阅端实现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5099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DDL 消息识别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5099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DDL 安全执行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5099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错误处理与恢复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15000" y="4297680"/>
            <a:ext cx="1325880" cy="32004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71500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已完成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0" y="1188720"/>
            <a:ext cx="16002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315200" y="1188720"/>
            <a:ext cx="16002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11887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5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388352" y="1783080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121"/>
                </a:solidFill>
              </a:rPr>
              <a:t>多数据库适配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88352" y="224028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SQL Server DDL 语法适配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88352" y="256032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Oracle DDL 语法适配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88352" y="288036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Exbase 兼容层适配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88352" y="320040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跨数据库 DDL 映射规则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452360" y="4297680"/>
            <a:ext cx="132588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452360" y="42976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规划中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后续优化方向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03  OPTIMIZATION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DDL 过滤规则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支持基于正则表达式的 DDL 语句过滤，实现精细化同步控制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冲突解决策略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提供可配置的冲突解决机制，处理订阅端命名冲突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DDL 回滚支持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783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支持订阅端 DDL 回滚操作，增强可靠性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175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扩展 DDL 类型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逐步支持 sequence、trigger、view 等更多 DDL 类型同步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0175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0" y="30175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SQL Server 适配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2900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适配 T-SQL DDL 语法，实现跨数据库 DDL 同步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01752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017520"/>
            <a:ext cx="265176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</a:rPr>
              <a:t>Oracle / Exbase 适配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适配 PL/SQL DDL 语法，兼容 Exbase 兼容层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1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完成用户接口扩展（CREATE/ALTER PUBLICATION/SUBSCRIPTION ddl 选项）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完成系统表 pg_publication_sync 设计，支持配置型 DDL 同步控制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完成核心代码修改，发布端 DDL 捕获机制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⏳ 订阅端 DDL 应用逻辑进行中，预计下阶段完成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📋 撰写 6 篇设计/实现文档，完整覆盖需求到交付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逻辑复制支持 DDL 功能将进一步增强 PostgreSQL 逻辑复制的实用性，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降低用户在异构数据库环境下的运维成本。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代码与交付成果统计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核心代码文件：8+</a:t>
            </a:r>
          </a:p>
          <a:p>
            <a:r>
              <a:t>核心函数/模块：20+</a:t>
            </a:r>
          </a:p>
          <a:p>
            <a:r>
              <a:t>新增系统表：pg_publication_sync / pg_publication_recv</a:t>
            </a:r>
          </a:p>
          <a:p>
            <a:r>
              <a:t>设计文档：6篇</a:t>
            </a:r>
          </a:p>
          <a:p>
            <a:r>
              <a:t>DDL类型支持：11类</a:t>
            </a:r>
          </a:p>
          <a:p>
            <a:r>
              <a:t>Publication扩展：pubddl</a:t>
            </a:r>
          </a:p>
          <a:p>
            <a:r>
              <a:t>Subscription扩展：subddl</a:t>
            </a:r>
          </a:p>
          <a:p/>
          <a:p>
            <a:r>
              <a:t>建议补充：UT数量、回归测试数量、E2E数量、代码行数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核心创新特性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DDL Capture Framework</a:t>
            </a:r>
          </a:p>
          <a:p>
            <a:r>
              <a:t>- 基于 ProcessUtility 的统一DDL捕获框架</a:t>
            </a:r>
          </a:p>
          <a:p>
            <a:r>
              <a:t>- publication粒度展开</a:t>
            </a:r>
          </a:p>
          <a:p/>
          <a:p>
            <a:r>
              <a:t>2. Rule Filter Framework</a:t>
            </a:r>
          </a:p>
          <a:p>
            <a:r>
              <a:t>- 发布端过滤</a:t>
            </a:r>
          </a:p>
          <a:p>
            <a:r>
              <a:t>- 订阅端过滤</a:t>
            </a:r>
          </a:p>
          <a:p>
            <a:r>
              <a:t>- DDL类型、Schema、Regex扩展</a:t>
            </a:r>
          </a:p>
          <a:p/>
          <a:p>
            <a:r>
              <a:t>3. DDL Replay Framework</a:t>
            </a:r>
          </a:p>
          <a:p>
            <a:r>
              <a:t>- apply_handle_ddl统一入口</a:t>
            </a:r>
          </a:p>
          <a:p>
            <a:r>
              <a:t>- DDL/DML顺序一致性</a:t>
            </a:r>
          </a:p>
          <a:p>
            <a:r>
              <a:t>- 多数据库Adapter扩展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SQL Server / Babelfish适配架构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DDL Message</a:t>
            </a:r>
          </a:p>
          <a:p>
            <a:r>
              <a:t>        ↓</a:t>
            </a:r>
          </a:p>
          <a:p>
            <a:r>
              <a:t>apply_handle_ddl()</a:t>
            </a:r>
          </a:p>
          <a:p>
            <a:r>
              <a:t>        ↓</a:t>
            </a:r>
          </a:p>
          <a:p>
            <a:r>
              <a:t>Replay Framework</a:t>
            </a:r>
          </a:p>
          <a:p>
            <a:r>
              <a:t>        ↓</a:t>
            </a:r>
          </a:p>
          <a:p>
            <a:r>
              <a:t>Babelfish Adapter</a:t>
            </a:r>
          </a:p>
          <a:p>
            <a:r>
              <a:t>        ↓</a:t>
            </a:r>
          </a:p>
          <a:p>
            <a:r>
              <a:t>TSQL Execute</a:t>
            </a:r>
          </a:p>
          <a:p/>
          <a:p>
            <a:r>
              <a:t>支持：Babelfish、Oracle、MySQL等异构DDL适配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专利提取点分析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专利点1：基于逻辑复制的DDL消息化同步框架</a:t>
            </a:r>
          </a:p>
          <a:p/>
          <a:p>
            <a:r>
              <a:t>专利点2：发布端/订阅端双向规则过滤机制</a:t>
            </a:r>
          </a:p>
          <a:p/>
          <a:p>
            <a:r>
              <a:t>专利点3：DDL Replay Framework与多数据库Adapter架构</a:t>
            </a:r>
          </a:p>
          <a:p/>
          <a:p>
            <a:r>
              <a:t>专利点4：基于pg_publication_sync的DDL复制模型</a:t>
            </a:r>
          </a:p>
          <a:p/>
          <a:p>
            <a:r>
              <a:t>专利点5：DDL/DML顺序一致性保证与Barrier机制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下一阶段路线图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Phase1：完成DDL发布端闭环</a:t>
            </a:r>
          </a:p>
          <a:p>
            <a:r>
              <a:t>Phase2：完成订阅端Replay Framework</a:t>
            </a:r>
          </a:p>
          <a:p>
            <a:r>
              <a:t>Phase3：Babelfish(TSQL)适配</a:t>
            </a:r>
          </a:p>
          <a:p>
            <a:r>
              <a:t>Phase4：Oracle/MySQL Adapter</a:t>
            </a:r>
          </a:p>
          <a:p>
            <a:r>
              <a:t>Phase5：Barrier、审计、重试机制</a:t>
            </a:r>
          </a:p>
          <a:p>
            <a:r>
              <a:t>Phase6：专利申请与产品化推广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逻辑复制支持DDL功能开发总结</dc:title>
  <dc:subject>PptxGenJS Presentation</dc:subject>
  <dc:creator>PostgreSQL Team</dc:creator>
  <cp:lastModifiedBy>PostgreSQL Team</cp:lastModifiedBy>
  <cp:revision>1</cp:revision>
  <dcterms:created xsi:type="dcterms:W3CDTF">2026-06-08T07:00:07Z</dcterms:created>
  <dcterms:modified xsi:type="dcterms:W3CDTF">2026-06-08T07:00:07Z</dcterms:modified>
</cp:coreProperties>
</file>