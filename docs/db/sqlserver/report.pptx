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
<Relationships xmlns="http://schemas.openxmlformats.org/package/2006/relationships">
  
		
  <Relationship Id="rId1" Type="http://schemas.openxmlformats.org/officeDocument/2006/relationships/extended-properties" Target="docProps/app.xml"/>
  
		
  <Relationship Id="rId2" Type="http://schemas.openxmlformats.org/package/2006/relationships/metadata/core-properties" Target="docProps/core.xml"/>
  
		
  <Relationship Id="rId3" Type="http://schemas.openxmlformats.org/officeDocument/2006/relationships/officeDocument" Target="ppt/presentation.xml"/>
  
		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notesMaster" Target="notesMasters/notesMaster1.xml"/>
  <Relationship Id="rId16" Type="http://schemas.openxmlformats.org/officeDocument/2006/relationships/presProps" Target="presProps.xml"/>
  <Relationship Id="rId17" Type="http://schemas.openxmlformats.org/officeDocument/2006/relationships/viewProps" Target="viewProps.xml"/>
  <Relationship Id="rId18" Type="http://schemas.openxmlformats.org/officeDocument/2006/relationships/theme" Target="theme/theme1.xml"/>
  <Relationship Id="rId19" Type="http://schemas.openxmlformats.org/officeDocument/2006/relationships/tableStyles" Target="tableStyles.xml"/>
</Relationships>

</file>

<file path=ppt/notesMasters/_rels/notesMaster1.xml.rels><?xml version="1.0" encoding="utf-8"?>
<Relationships xmlns="http://schemas.openxmlformats.org/package/2006/relationships">
  
		
  <Relationship Id="rId1" Type="http://schemas.openxmlformats.org/officeDocument/2006/relationships/theme" Target="../theme/theme1.xml"/>
  
		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.xml"/>
  
		
</Relationships>

</file>

<file path=ppt/notesSlides/_rels/notesSlide2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2.xml"/>
  
		
</Relationships>

</file>

<file path=ppt/notesSlides/_rels/notesSlide3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3.xml"/>
  
		
</Relationships>

</file>

<file path=ppt/notesSlides/_rels/notesSlide4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4.xml"/>
  
		
</Relationships>

</file>

<file path=ppt/notesSlides/_rels/notesSlide5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5.xml"/>
  
		
</Relationships>

</file>

<file path=ppt/notesSlides/_rels/notesSlide6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6.xml"/>
  
		
</Relationships>

</file>

<file path=ppt/notesSlides/_rels/notesSlide7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7.xml"/>
  
		
</Relationships>

</file>

<file path=ppt/notesSlides/_rels/notesSlide8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8.xml"/>
  
		
</Relationships>

</file>

<file path=ppt/notesSlides/_rels/notesSlide9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9.xml"/>
  
		
</Relationships>

</file>

<file path=ppt/notesSlides/_rels/notesSlide10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0.xml"/>
  
		
</Relationships>

</file>

<file path=ppt/notesSlides/_rels/notesSlide11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1.xml"/>
  
		
</Relationships>

</file>

<file path=ppt/notesSlides/_rels/notesSlide12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2.xml"/>
  
		
</Relationships>

</file>

<file path=ppt/notesSlides/_rels/notesSlide13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3.xml"/>
  
		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
</file>

<file path=ppt/slides/_rels/slide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
</file>

<file path=ppt/slides/_rels/slide3.xml.rels><?xml version="1.0" encoding="utf-8"?>
<Relationships xmlns="http://schemas.openxmlformats.org/package/2006/relationships">
  <Relationship Id="rId1" Type="http://schemas.openxmlformats.org/officeDocument/2006/relationships/image" Target="../media/image-3-1.png"/>
  <Relationship Id="rId2" Type="http://schemas.openxmlformats.org/officeDocument/2006/relationships/image" Target="../media/image-3-2.png"/>
  <Relationship Id="rId3" Type="http://schemas.openxmlformats.org/officeDocument/2006/relationships/image" Target="../media/image-3-3.png"/>
  <Relationship Id="rId4" Type="http://schemas.openxmlformats.org/officeDocument/2006/relationships/slideLayout" Target="../slideLayouts/slideLayout1.xml"/>
  <Relationship Id="rId5" Type="http://schemas.openxmlformats.org/officeDocument/2006/relationships/notesSlide" Target="../notesSlides/notesSlide3.xml"/>
</Relationships>

</file>

<file path=ppt/slides/_rels/slide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
</file>

<file path=ppt/slides/_rels/slide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
</file>

<file path=ppt/slides/_rels/slide6.xml.rels><?xml version="1.0" encoding="utf-8"?>
<Relationships xmlns="http://schemas.openxmlformats.org/package/2006/relationships">
  <Relationship Id="rId1" Type="http://schemas.openxmlformats.org/officeDocument/2006/relationships/image" Target="../media/image-6-1.png"/>
  <Relationship Id="rId2" Type="http://schemas.openxmlformats.org/officeDocument/2006/relationships/image" Target="../media/image-6-2.png"/>
  <Relationship Id="rId3" Type="http://schemas.openxmlformats.org/officeDocument/2006/relationships/image" Target="../media/image-6-3.png"/>
  <Relationship Id="rId4" Type="http://schemas.openxmlformats.org/officeDocument/2006/relationships/image" Target="../media/image-6-4.png"/>
  <Relationship Id="rId5" Type="http://schemas.openxmlformats.org/officeDocument/2006/relationships/image" Target="../media/image-6-5.png"/>
  <Relationship Id="rId6" Type="http://schemas.openxmlformats.org/officeDocument/2006/relationships/slideLayout" Target="../slideLayouts/slideLayout1.xml"/>
  <Relationship Id="rId7" Type="http://schemas.openxmlformats.org/officeDocument/2006/relationships/notesSlide" Target="../notesSlides/notesSlide6.xml"/>
</Relationships>

</file>

<file path=ppt/slides/_rels/slide7.xml.rels><?xml version="1.0" encoding="utf-8"?>
<Relationships xmlns="http://schemas.openxmlformats.org/package/2006/relationships">
  <Relationship Id="rId1" Type="http://schemas.openxmlformats.org/officeDocument/2006/relationships/image" Target="../media/image-7-1.png"/>
  <Relationship Id="rId2" Type="http://schemas.openxmlformats.org/officeDocument/2006/relationships/image" Target="../media/image-7-2.png"/>
  <Relationship Id="rId3" Type="http://schemas.openxmlformats.org/officeDocument/2006/relationships/image" Target="../media/image-7-3.png"/>
  <Relationship Id="rId4" Type="http://schemas.openxmlformats.org/officeDocument/2006/relationships/image" Target="../media/image-7-4.png"/>
  <Relationship Id="rId5" Type="http://schemas.openxmlformats.org/officeDocument/2006/relationships/slideLayout" Target="../slideLayouts/slideLayout1.xml"/>
  <Relationship Id="rId6" Type="http://schemas.openxmlformats.org/officeDocument/2006/relationships/notesSlide" Target="../notesSlides/notesSlide7.xml"/>
</Relationships>

</file>

<file path=ppt/slides/_rels/slide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
</file>

<file path=ppt/slides/_rels/slide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
</file>

<file path=ppt/slides/_rels/slide10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
</file>

<file path=ppt/slides/_rels/slide1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
</file>

<file path=ppt/slides/_rels/slide1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
</file>

<file path=ppt/slides/_rels/slide1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61E4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252F5C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逻辑复制支持DDL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</a:rPr>
              <a:t>功能开发总结汇报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工作目标达成 | 重点复盘 | 未来计划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114800"/>
            <a:ext cx="137160" cy="10287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2976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PostgreSQL 逻辑复制团队  |  2026年6月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目录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CONTENTS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280160"/>
            <a:ext cx="91440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37160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82880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121"/>
                </a:solidFill>
              </a:rPr>
              <a:t>工作目标达成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2880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代码修改与文档撰写完成情况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46888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468880"/>
            <a:ext cx="91440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56032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828800" y="2606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121"/>
                </a:solidFill>
              </a:rPr>
              <a:t>重点复盘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28800" y="2971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技术方案设计与实现亮点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65760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657600"/>
            <a:ext cx="91440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74904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828800" y="3794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121"/>
                </a:solidFill>
              </a:rPr>
              <a:t>未来计划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82880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后续工作规划与优化方向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工作目标达成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01  CODE &amp; DOCS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371600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240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8+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4864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核心代码文件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83280" y="118872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371600"/>
            <a:ext cx="822960" cy="8229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2240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</a:rPr>
              <a:t>6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338328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设计/实现文档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17920" y="118872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371600"/>
            <a:ext cx="822960" cy="8229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17920" y="2240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</a:rPr>
              <a:t>3</a:t>
            </a:r>
            <a:endParaRPr lang="en-US" sz="3600" dirty="0"/>
          </a:p>
        </p:txBody>
      </p:sp>
      <p:sp>
        <p:nvSpPr>
          <p:cNvPr id="17" name="Text 12"/>
          <p:cNvSpPr/>
          <p:nvPr/>
        </p:nvSpPr>
        <p:spPr>
          <a:xfrm>
            <a:off x="621792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新增系统表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4864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</a:rPr>
              <a:t>完成进度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48640" y="3794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用户接口扩展 (CREATE/ALTER PUBLICATION/SUBSCRIPTION)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212080" y="3840480"/>
            <a:ext cx="32004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Shape 16"/>
          <p:cNvSpPr/>
          <p:nvPr/>
        </p:nvSpPr>
        <p:spPr>
          <a:xfrm>
            <a:off x="5212080" y="3840480"/>
            <a:ext cx="3200400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17"/>
          <p:cNvSpPr/>
          <p:nvPr/>
        </p:nvSpPr>
        <p:spPr>
          <a:xfrm>
            <a:off x="8503920" y="37947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100%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48640" y="40873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系统表 pg_publication_sync 设计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212080" y="4133088"/>
            <a:ext cx="32004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Shape 20"/>
          <p:cNvSpPr/>
          <p:nvPr/>
        </p:nvSpPr>
        <p:spPr>
          <a:xfrm>
            <a:off x="5212080" y="4133088"/>
            <a:ext cx="3200400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1"/>
          <p:cNvSpPr/>
          <p:nvPr/>
        </p:nvSpPr>
        <p:spPr>
          <a:xfrm>
            <a:off x="8503920" y="40873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100%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548640" y="43799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发布端 DDL 捕获机制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5212080" y="4425696"/>
            <a:ext cx="32004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Shape 24"/>
          <p:cNvSpPr/>
          <p:nvPr/>
        </p:nvSpPr>
        <p:spPr>
          <a:xfrm>
            <a:off x="5212080" y="4425696"/>
            <a:ext cx="2720340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5"/>
          <p:cNvSpPr/>
          <p:nvPr/>
        </p:nvSpPr>
        <p:spPr>
          <a:xfrm>
            <a:off x="8503920" y="43799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85%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548640" y="46725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订阅端 DDL 应用逻辑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5212080" y="4718304"/>
            <a:ext cx="32004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Shape 28"/>
          <p:cNvSpPr/>
          <p:nvPr/>
        </p:nvSpPr>
        <p:spPr>
          <a:xfrm>
            <a:off x="5212080" y="4718304"/>
            <a:ext cx="224028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29"/>
          <p:cNvSpPr/>
          <p:nvPr/>
        </p:nvSpPr>
        <p:spPr>
          <a:xfrm>
            <a:off x="8503920" y="46725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70%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代码修改详情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01  CODE CHANGES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修改文件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08760"/>
            <a:ext cx="54864" cy="4389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5453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</a:rPr>
              <a:t>gram.y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扩展 CREATE/ALTER PUBLICATION/SUBSCRIPTION 语法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039112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039112"/>
            <a:ext cx="54864" cy="4389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0756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</a:rPr>
              <a:t>publicationcmds.c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226771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publication DDL 选项解析与校验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569464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569464"/>
            <a:ext cx="54864" cy="4389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606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</a:rPr>
              <a:t>subscriptioncmds.c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279806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subscription DDL 选项解析与校验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099816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99816"/>
            <a:ext cx="54864" cy="4389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1363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</a:rPr>
              <a:t>utility.c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33284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DDL 捕获与消息发布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630168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630168"/>
            <a:ext cx="54864" cy="4389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6667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</a:rPr>
              <a:t>pg_publication_sync.h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38587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新系统表头文件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160520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4160520"/>
            <a:ext cx="54864" cy="4389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41970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</a:rPr>
              <a:t>pg_publication_sync.dat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" y="43891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新系统表数据文件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DDL 类型支持矩阵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46320" y="1463040"/>
            <a:ext cx="384048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DDL类型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1463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 TABLE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 ALL TABLES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1783080"/>
            <a:ext cx="3840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1783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table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17920" y="1783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1520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46320" y="2057400"/>
            <a:ext cx="3840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493776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index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17920" y="2057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1520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46320" y="2331720"/>
            <a:ext cx="3840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5" name="Text 43"/>
          <p:cNvSpPr/>
          <p:nvPr/>
        </p:nvSpPr>
        <p:spPr>
          <a:xfrm>
            <a:off x="4937760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sequence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1792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31520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846320" y="2606040"/>
            <a:ext cx="3840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4937760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trigger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17920" y="2606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31520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846320" y="2880360"/>
            <a:ext cx="3840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3" name="Text 51"/>
          <p:cNvSpPr/>
          <p:nvPr/>
        </p:nvSpPr>
        <p:spPr>
          <a:xfrm>
            <a:off x="4937760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view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217920" y="2880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31520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846320" y="3154680"/>
            <a:ext cx="3840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4937760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rule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217920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315200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846320" y="3429000"/>
            <a:ext cx="3840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1" name="Text 59"/>
          <p:cNvSpPr/>
          <p:nvPr/>
        </p:nvSpPr>
        <p:spPr>
          <a:xfrm>
            <a:off x="4937760" y="3429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schema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217920" y="3429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315200" y="3429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846320" y="3703320"/>
            <a:ext cx="3840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4937760" y="3703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function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217920" y="3703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31520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846320" y="3977640"/>
            <a:ext cx="3840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9" name="Text 67"/>
          <p:cNvSpPr/>
          <p:nvPr/>
        </p:nvSpPr>
        <p:spPr>
          <a:xfrm>
            <a:off x="4937760" y="3977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type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217920" y="3977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7315200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846320" y="4251960"/>
            <a:ext cx="3840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4937760" y="4251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domain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217920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731520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4846320" y="4526280"/>
            <a:ext cx="3840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7" name="Text 75"/>
          <p:cNvSpPr/>
          <p:nvPr/>
        </p:nvSpPr>
        <p:spPr>
          <a:xfrm>
            <a:off x="4937760" y="4526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extension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217920" y="4526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7315200" y="4526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4846320" y="47548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* FOR TABLE/FOR TABLES IN SCHEMA 只支持 table 和 index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文档撰写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01  DOCUMENTATION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984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需求文档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逻辑复制支持DDL需求分析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需求背景、功能规划、接口设计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88720"/>
            <a:ext cx="73152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2984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设计文档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逻辑复制支持DDL详细设计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874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系统表设计、发布/订阅端方案、测试策略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77440"/>
            <a:ext cx="73152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4871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技术文档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新增逻辑复制同步系统表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063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pg_publication_sync 表结构、字段说明、索引设计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37744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377440"/>
            <a:ext cx="73152" cy="10058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4871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交付文档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逻辑复制支持DDL开发交付计划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3063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阶段划分、任务分解、工时估算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56616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566160"/>
            <a:ext cx="73152" cy="10058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6758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</a:rPr>
              <a:t>分析文档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DDL写入WAL日志的影响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4251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WAL 日志记录策略、性能影响分析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56616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566160"/>
            <a:ext cx="73152" cy="10058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6758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评审文档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3776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支持DDL评审相关问题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37760" y="4251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评审意见、争议点、解决方案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Header bar -->
      <p:sp>
        <p:nvSpPr>
          <p:cNvPr id="2" name="Header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!-- Header title -->
      <p:sp>
        <p:nvSpPr>
          <p:cNvPr id="3" name="Title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技术方案设计</a:t>
            </a:r>
          </a:p>
        </p:txBody>
      </p:sp>
      <!-- Header subtitle -->
      <p:sp>
        <p:nvSpPr>
          <p:cNvPr id="4" name="Subtitle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02  ARCHITECTURE</a:t>
            </a:r>
          </a:p>
        </p:txBody>
      </p:sp>
      <!-- Slide number -->
      <p:sp>
        <p:nvSpPr>
          <p:cNvPr id="5" name="SlideNum"/>
          <p:cNvSpPr/>
          <p:nvPr/>
        </p:nvSpPr>
        <p:spPr>
          <a:xfrm>
            <a:off x="8503920" y="6400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</a:t>
            </a:r>
          </a:p>
        </p:txBody>
      </p:sp>
      <!-- Section title -->
      <p:sp>
        <p:nvSpPr>
          <p:cNvPr id="6" name="SectionTitle"/>
          <p:cNvSpPr/>
          <p:nvPr/>
        </p:nvSpPr>
        <p:spPr>
          <a:xfrm>
            <a:off x="4572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统一架构</a:t>
            </a:r>
          </a:p>
        </p:txBody>
      </p:sp>
      <!-- ============ LEFT SIDE: PUBLISHER ============ -->
      <!-- Publisher label -->
      <p:sp>
        <p:nvSpPr>
          <p:cNvPr id="10" name="PublisherLabel"/>
          <p:cNvSpPr/>
          <p:nvPr/>
        </p:nvSpPr>
        <p:spPr>
          <a:xfrm>
            <a:off x="457200" y="1500000"/>
            <a:ext cx="12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sz="1100" b="1" dirty="0">
                <a:solidFill>
                  <a:srgbClr val="1E2761"/>
                </a:solidFill>
              </a:rPr>
              <a:t>发布端</a:t>
            </a:r>
          </a:p>
        </p:txBody>
      </p:sp>
      <!-- Box 1: ProcessUtility -->
      <p:sp>
        <p:nvSpPr>
          <p:cNvPr id="11" name="Box1"/>
          <p:cNvSpPr/>
          <p:nvPr/>
        </p:nvSpPr>
        <p:spPr>
          <a:xfrm>
            <a:off x="457200" y="1900000"/>
            <a:ext cx="1800000" cy="80000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3B82F6"/>
            </a:solidFill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ProcessUtility()</a:t>
            </a:r>
          </a:p>
          <a:p>
            <a:pPr algn="ctr" indent="0" marL="0">
              <a:buNone/>
            </a:pPr>
            <a:r>
              <a:rPr lang="zh-CN" sz="800" dirty="0">
                <a:solidFill>
                  <a:srgbClr val="CADCFC"/>
                </a:solidFill>
              </a:rPr>
              <a:t>DDL 解析</a:t>
            </a:r>
          </a:p>
        </p:txBody>
      </p:sp>
      <!-- Arrow 1 -->
      <p:sp>
        <p:nvSpPr>
          <p:cNvPr id="12" name="Arrow1"/>
          <p:cNvSpPr/>
          <p:nvPr/>
        </p:nvSpPr>
        <p:spPr>
          <a:xfrm>
            <a:off x="2327200" y="2180000"/>
            <a:ext cx="200000" cy="137160"/>
          </a:xfrm>
          <a:prstGeom prst="rightArrow">
            <a:avLst/>
          </a:prstGeom>
          <a:solidFill>
            <a:srgbClr val="3B82F6"/>
          </a:solidFill>
          <a:ln/>
        </p:spPr>
      </p:sp>
      <!-- Box 2: CapturePublicationSyncDDL -->
      <p:sp>
        <p:nvSpPr>
          <p:cNvPr id="13" name="Box2"/>
          <p:cNvSpPr/>
          <p:nvPr/>
        </p:nvSpPr>
        <p:spPr>
          <a:xfrm>
            <a:off x="2597200" y="1900000"/>
            <a:ext cx="1800000" cy="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CapturePublicationSyncDDL()</a:t>
            </a:r>
          </a:p>
          <a:p>
            <a:pPr algn="ctr" indent="0" marL="0">
              <a:buNone/>
            </a:pPr>
            <a:r>
              <a:rPr lang="zh-CN" sz="800" dirty="0">
                <a:solidFill>
                  <a:srgbClr val="64748B"/>
                </a:solidFill>
              </a:rPr>
              <a:t>捕获 DDL SQL</a:t>
            </a:r>
          </a:p>
        </p:txBody>
      </p:sp>
      <!-- Arrow 2 -->
      <p:sp>
        <p:nvSpPr>
          <p:cNvPr id="14" name="Arrow2"/>
          <p:cNvSpPr/>
          <p:nvPr/>
        </p:nvSpPr>
        <p:spPr>
          <a:xfrm>
            <a:off x="4467200" y="2180000"/>
            <a:ext cx="200000" cy="137160"/>
          </a:xfrm>
          <a:prstGeom prst="rightArrow">
            <a:avLst/>
          </a:prstGeom>
          <a:solidFill>
            <a:srgbClr val="3B82F6"/>
          </a:solidFill>
          <a:ln/>
        </p:spPr>
      </p:sp>
      <!-- Box 3: pg_publication_sync table -->
      <p:sp>
        <p:nvSpPr>
          <p:cNvPr id="15" name="Box3"/>
          <p:cNvSpPr/>
          <p:nvPr/>
        </p:nvSpPr>
        <p:spPr>
          <a:xfrm>
            <a:off x="4737200" y="1900000"/>
            <a:ext cx="1800000" cy="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pg_publication_sync</a:t>
            </a:r>
          </a:p>
          <a:p>
            <a:pPr algn="ctr" indent="0" marL="0">
              <a:buNone/>
            </a:pPr>
            <a:r>
              <a:rPr lang="zh-CN" sz="800" dirty="0">
                <a:solidFill>
                  <a:srgbClr val="64748B"/>
                </a:solidFill>
              </a:rPr>
              <a:t>表存储 DDL</a:t>
            </a:r>
          </a:p>
        </p:txBody>
      </p:sp>
      <!-- Arrow 3: Down from table -->
      <p:sp>
        <p:nvSpPr>
          <p:cNvPr id="16" name="Arrow3"/>
          <p:cNvSpPr/>
          <p:nvPr/>
        </p:nvSpPr>
        <p:spPr>
          <a:xfrm>
            <a:off x="5577200" y="2730000"/>
            <a:ext cx="137160" cy="250000"/>
          </a:xfrm>
          <a:prstGeom prst="downArrow">
            <a:avLst/>
          </a:prstGeom>
          <a:solidFill>
            <a:srgbClr val="3B82F6"/>
          </a:solidFill>
          <a:ln/>
        </p:spPr>
      </p:sp>
      <!-- Box 4: Logical Decoding -->
      <p:sp>
        <p:nvSpPr>
          <p:cNvPr id="17" name="Box4"/>
          <p:cNvSpPr/>
          <p:nvPr/>
        </p:nvSpPr>
        <p:spPr>
          <a:xfrm>
            <a:off x="4737200" y="3000000"/>
            <a:ext cx="1800000" cy="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Logical Decoding</a:t>
            </a:r>
          </a:p>
          <a:p>
            <a:pPr algn="ctr" indent="0" marL="0">
              <a:buNone/>
            </a:pPr>
            <a:r>
              <a:rPr lang="zh-CN" sz="800" dirty="0">
                <a:solidFill>
                  <a:srgbClr val="64748B"/>
                </a:solidFill>
              </a:rPr>
              <a:t>读取表变化</a:t>
            </a:r>
          </a:p>
        </p:txBody>
      </p:sp>
      <!-- Arrow 4: Down from logical decoding -->
      <p:sp>
        <p:nvSpPr>
          <p:cNvPr id="18" name="Arrow4"/>
          <p:cNvSpPr/>
          <p:nvPr/>
        </p:nvSpPr>
        <p:spPr>
          <a:xfrm>
            <a:off x="5577200" y="3830000"/>
            <a:ext cx="137160" cy="250000"/>
          </a:xfrm>
          <a:prstGeom prst="downArrow">
            <a:avLst/>
          </a:prstGeom>
          <a:solidFill>
            <a:srgbClr val="3B82F6"/>
          </a:solidFill>
          <a:ln/>
        </p:spPr>
      </p:sp>
      <!-- Box 5: pgoutput -->
      <p:sp>
        <p:nvSpPr>
          <p:cNvPr id="19" name="Box5"/>
          <p:cNvSpPr/>
          <p:nvPr/>
        </p:nvSpPr>
        <p:spPr>
          <a:xfrm>
            <a:off x="4737200" y="4100000"/>
            <a:ext cx="1800000" cy="70000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3B82F6"/>
            </a:solidFill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pgoutput</a:t>
            </a:r>
          </a:p>
          <a:p>
            <a:pPr algn="ctr" indent="0" marL="0">
              <a:buNone/>
            </a:pPr>
            <a:r>
              <a:rPr lang="zh-CN" sz="800" dirty="0">
                <a:solidFill>
                  <a:srgbClr val="CADCFC"/>
                </a:solidFill>
              </a:rPr>
              <a:t>发送 DDL 消息</a:t>
            </a:r>
          </a:p>
        </p:txBody>
      </p:sp>
      <!-- ============ CENTER: Replication Protocol ============ -->
      <!-- Long arrow across center -->
      <p:sp>
        <p:nvSpPr>
          <p:cNvPr id="20" name="CenterArrow"/>
          <p:cNvSpPr/>
          <p:nvPr/>
        </p:nvSpPr>
        <p:spPr>
          <a:xfrm>
            <a:off x="6607200" y="4350000"/>
            <a:ext cx="600000" cy="200000"/>
          </a:xfrm>
          <a:prstGeom prst="rightArrow">
            <a:avLst/>
          </a:prstGeom>
          <a:solidFill>
            <a:srgbClr val="3B82F6"/>
          </a:solidFill>
          <a:ln/>
        </p:spPr>
      </p:sp>
      <!-- Replication Protocol label -->
      <p:sp>
        <p:nvSpPr>
          <p:cNvPr id="21" name="RepProtoLabel"/>
          <p:cNvSpPr/>
          <p:nvPr/>
        </p:nvSpPr>
        <p:spPr>
          <a:xfrm>
            <a:off x="6607200" y="4000000"/>
            <a:ext cx="6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sz="900" dirty="0">
                <a:solidFill>
                  <a:srgbClr val="64748B"/>
                </a:solidFill>
              </a:rPr>
              <a:t>复制协议</a:t>
            </a:r>
          </a:p>
        </p:txBody>
      </p:sp>
      <!-- ============ RIGHT SIDE: SUBSCRIBER ============ -->
      <!-- Subscriber label -->
      <p:sp>
        <p:nvSpPr>
          <p:cNvPr id="30" name="SubscriberLabel"/>
          <p:cNvSpPr/>
          <p:nvPr/>
        </p:nvSpPr>
        <p:spPr>
          <a:xfrm>
            <a:off x="7300000" y="1500000"/>
            <a:ext cx="12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sz="1100" b="1" dirty="0">
                <a:solidFill>
                  <a:srgbClr val="1E2761"/>
                </a:solidFill>
              </a:rPr>
              <a:t>订阅端</a:t>
            </a:r>
          </a:p>
        </p:txBody>
      </p:sp>
      <!-- Box 6: apply_handle_ddl -->
      <p:sp>
        <p:nvSpPr>
          <p:cNvPr id="31" name="Box6"/>
          <p:cNvSpPr/>
          <p:nvPr/>
        </p:nvSpPr>
        <p:spPr>
          <a:xfrm>
            <a:off x="7300000" y="1900000"/>
            <a:ext cx="1600000" cy="80000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3B82F6"/>
            </a:solidFill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apply_handle_ddl()</a:t>
            </a:r>
          </a:p>
          <a:p>
            <a:pPr algn="ctr" indent="0" marL="0">
              <a:buNone/>
            </a:pPr>
            <a:r>
              <a:rPr lang="zh-CN" sz="800" dirty="0">
                <a:solidFill>
                  <a:srgbClr val="CADCFC"/>
                </a:solidFill>
              </a:rPr>
              <a:t>接收 DDL 消息</a:t>
            </a:r>
          </a:p>
        </p:txBody>
      </p:sp>
      <!-- Arrow 5: down from apply_handle_ddl -->
      <p:sp>
        <p:nvSpPr>
          <p:cNvPr id="32" name="Arrow5"/>
          <p:cNvSpPr/>
          <p:nvPr/>
        </p:nvSpPr>
        <p:spPr>
          <a:xfrm>
            <a:off x="8030000" y="2730000"/>
            <a:ext cx="137160" cy="250000"/>
          </a:xfrm>
          <a:prstGeom prst="downArrow">
            <a:avLst/>
          </a:prstGeom>
          <a:solidFill>
            <a:srgbClr val="3B82F6"/>
          </a:solidFill>
          <a:ln/>
        </p:spPr>
      </p:sp>
      <!-- Box 7: execute_publication_sync_sql_command -->
      <p:sp>
        <p:nvSpPr>
          <p:cNvPr id="33" name="Box7"/>
          <p:cNvSpPr/>
          <p:nvPr/>
        </p:nvSpPr>
        <p:spPr>
          <a:xfrm>
            <a:off x="7300000" y="3000000"/>
            <a:ext cx="1600000" cy="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</a:rPr>
              <a:t>execute_publication_sync_sql_command()</a:t>
            </a:r>
          </a:p>
          <a:p>
            <a:pPr algn="ctr" indent="0" marL="0">
              <a:buNone/>
            </a:pPr>
            <a:r>
              <a:rPr lang="zh-CN" sz="800" dirty="0">
                <a:solidFill>
                  <a:srgbClr val="64748B"/>
                </a:solidFill>
              </a:rPr>
              <a:t>执行 DDL SQL</a:t>
            </a:r>
          </a:p>
        </p:txBody>
      </p:sp>
      <!-- Arrow 6: down to Replay Framework -->
      <p:sp>
        <p:nvSpPr>
          <p:cNvPr id="34" name="Arrow6"/>
          <p:cNvSpPr/>
          <p:nvPr/>
        </p:nvSpPr>
        <p:spPr>
          <a:xfrm>
            <a:off x="8030000" y="3830000"/>
            <a:ext cx="137160" cy="250000"/>
          </a:xfrm>
          <a:prstGeom prst="downArrow">
            <a:avLst/>
          </a:prstGeom>
          <a:solidFill>
            <a:srgbClr val="3B82F6"/>
          </a:solidFill>
          <a:ln/>
        </p:spPr>
      </p:sp>
      <!-- Box 8: Replay Framework -->
      <p:sp>
        <p:nvSpPr>
          <p:cNvPr id="35" name="Box8"/>
          <p:cNvSpPr/>
          <p:nvPr/>
        </p:nvSpPr>
        <p:spPr>
          <a:xfrm>
            <a:off x="7300000" y="4100000"/>
            <a:ext cx="1600000" cy="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Replay Framework</a:t>
            </a:r>
          </a:p>
          <a:p>
            <a:pPr algn="ctr" indent="0" marL="0">
              <a:buNone/>
            </a:pPr>
            <a:r>
              <a:rPr lang="zh-CN" sz="800" dirty="0">
                <a:solidFill>
                  <a:srgbClr val="64748B"/>
                </a:solidFill>
              </a:rPr>
              <a:t>分发转换 Adapter</a:t>
            </a:r>
          </a:p>
        </p:txBody>
      </p:sp>
      <!-- Arrow 7: down from Replay Framework -->
      <p:sp>
        <p:nvSpPr>
          <p:cNvPr id="36" name="Arrow7"/>
          <p:cNvSpPr/>
          <p:nvPr/>
        </p:nvSpPr>
        <p:spPr>
          <a:xfrm>
            <a:off x="8030000" y="4830000"/>
            <a:ext cx="137160" cy="250000"/>
          </a:xfrm>
          <a:prstGeom prst="downArrow">
            <a:avLst/>
          </a:prstGeom>
          <a:solidFill>
            <a:srgbClr val="3B82F6"/>
          </a:solidFill>
          <a:ln/>
        </p:spPr>
      </p:sp>
      <!-- ============ SQL ADAPTER LAYER ============ -->
      <!-- SQL Adapter Layer label -->
      <p:sp>
        <p:nvSpPr>
          <p:cNvPr id="40" name="AdapterLayerLabel"/>
          <p:cNvSpPr/>
          <p:nvPr/>
        </p:nvSpPr>
        <p:spPr>
          <a:xfrm>
            <a:off x="7300000" y="5100000"/>
            <a:ext cx="16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SQL Adapter Layer</a:t>
            </a:r>
          </a:p>
        </p:txBody>
      </p:sp>
      <!-- Horizontal branch line -->
      <p:sp>
        <p:nvSpPr>
          <p:cNvPr id="41" name="HBranch"/>
          <p:cNvSpPr/>
          <p:nvPr/>
        </p:nvSpPr>
        <p:spPr>
          <a:xfrm>
            <a:off x="7500000" y="5450000"/>
            <a:ext cx="1200000" cy="91440"/>
          </a:xfrm>
          <a:prstGeom prst="rect">
            <a:avLst/>
          </a:prstGeom>
          <a:solidFill>
            <a:srgbClr val="F96167"/>
          </a:solidFill>
          <a:ln/>
        </p:spPr>
      </p:sp>
      <!-- Three vertical drops to adapters -->
      <p:sp>
        <p:nvSpPr>
          <p:cNvPr id="42" name="Arrow Drop1"/>
          <p:cNvSpPr/>
          <p:nvPr/>
        </p:nvSpPr>
        <p:spPr>
          <a:xfrm>
            <a:off x="7600000" y="5450000"/>
            <a:ext cx="91440" cy="200000"/>
          </a:xfrm>
          <a:prstGeom prst="downArrow">
            <a:avLst/>
          </a:prstGeom>
          <a:solidFill>
            <a:srgbClr val="F96167"/>
          </a:solidFill>
          <a:ln/>
        </p:spPr>
      </p:sp>
      <p:sp>
        <p:nvSpPr>
          <p:cNvPr id="43" name="Arrow Drop2"/>
          <p:cNvSpPr/>
          <p:nvPr/>
        </p:nvSpPr>
        <p:spPr>
          <a:xfrm>
            <a:off x="8100000" y="5450000"/>
            <a:ext cx="91440" cy="200000"/>
          </a:xfrm>
          <a:prstGeom prst="downArrow">
            <a:avLst/>
          </a:prstGeom>
          <a:solidFill>
            <a:srgbClr val="F96167"/>
          </a:solidFill>
          <a:ln/>
        </p:spPr>
      </p:sp>
      <p:sp>
        <p:nvSpPr>
          <p:cNvPr id="44" name="Arrow Drop3"/>
          <p:cNvSpPr/>
          <p:nvPr/>
        </p:nvSpPr>
        <p:spPr>
          <a:xfrm>
            <a:off x="8600000" y="5450000"/>
            <a:ext cx="91440" cy="200000"/>
          </a:xfrm>
          <a:prstGeom prst="downArrow">
            <a:avLst/>
          </a:prstGeom>
          <a:solidFill>
            <a:srgbClr val="F96167"/>
          </a:solidFill>
          <a:ln/>
        </p:spPr>
      </p:sp>
      <!-- Adapter Box 1: Babelfish -->
      <p:sp>
        <p:nvSpPr>
          <p:cNvPr id="50" name="Adapter1"/>
          <p:cNvSpPr/>
          <p:nvPr/>
        </p:nvSpPr>
        <p:spPr>
          <a:xfrm>
            <a:off x="7300000" y="5700000"/>
            <a:ext cx="700000" cy="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6167"/>
            </a:solidFill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Babelfish</a:t>
            </a:r>
          </a:p>
          <a:p>
            <a:pPr algn="ctr" indent="0" marL="0">
              <a:buNone/>
            </a:pPr>
            <a:r>
              <a:rPr lang="zh-CN" sz="700" dirty="0">
                <a:solidFill>
                  <a:srgbClr val="64748B"/>
                </a:solidFill>
              </a:rPr>
              <a:t>T-SQL → PG</a:t>
            </a:r>
          </a:p>
        </p:txBody>
      </p:sp>
      <!-- Adapter Box 2: Oracle -->
      <p:sp>
        <p:nvSpPr>
          <p:cNvPr id="51" name="Adapter2"/>
          <p:cNvSpPr/>
          <p:nvPr/>
        </p:nvSpPr>
        <p:spPr>
          <a:xfrm>
            <a:off x="8050000" y="5700000"/>
            <a:ext cx="700000" cy="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6167"/>
            </a:solidFill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Oracle</a:t>
            </a:r>
          </a:p>
          <a:p>
            <a:pPr algn="ctr" indent="0" marL="0">
              <a:buNone/>
            </a:pPr>
            <a:r>
              <a:rPr lang="zh-CN" sz="700" dirty="0">
                <a:solidFill>
                  <a:srgbClr val="64748B"/>
                </a:solidFill>
              </a:rPr>
              <a:t>PL/SQL → PG</a:t>
            </a:r>
          </a:p>
        </p:txBody>
      </p:sp>
      <!-- Adapter Box 3: MySQL -->
      <p:sp>
        <p:nvSpPr>
          <p:cNvPr id="52" name="Adapter3"/>
          <p:cNvSpPr/>
          <p:nvPr/>
        </p:nvSpPr>
        <p:spPr>
          <a:xfrm>
            <a:off x="8800000" y="5700000"/>
            <a:ext cx="300000" cy="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6167"/>
            </a:solidFill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</a:rPr>
              <a:t>MySQL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实现亮点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02  HIGHLIGHTS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</a:rPr>
              <a:t>精确的 DDL 类型控制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1965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通过 bitmask 设计精细化控制每个publication和subscription的DDL同步范围，支持11种DDL类型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</a:rPr>
              <a:t>用户接口友好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37760" y="1965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通过 CREATE/ALTER PUBLICATION/SUBSCRIPTION 的 WITH (ddl='table,index,...') 语法直接声明，零学习成本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92608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0896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</a:rPr>
              <a:t>与现有架构无缝融合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40080" y="3703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pg_publication_sync 类似 pg_publication_rel 的扩展控制表，遵循 PostgreSQL catalog 设计规范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54880" y="292608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08960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66928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</a:rPr>
              <a:t>向后兼容设计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4937760" y="3703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默认不启用 DDL 同步，现有逻辑复制功能完全不受影响，可平滑升级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性能与风险分析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02  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DDL 同步开销预估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DDL 捕获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20240" y="1627632"/>
            <a:ext cx="57912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254508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7784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低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WAL 写入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20240" y="2130552"/>
            <a:ext cx="173736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2057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15%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77840" y="2057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中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逻辑解码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20240" y="2633472"/>
            <a:ext cx="1389888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3355848" y="2560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12%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77840" y="2560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中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063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订阅端应用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920240" y="3136392"/>
            <a:ext cx="289560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4861560" y="3063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25%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77840" y="3063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高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566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总计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920240" y="3639312"/>
            <a:ext cx="347472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440680" y="3566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57%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风险矩阵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1463040"/>
            <a:ext cx="384048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463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风险项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0" y="1463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等级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1783080"/>
            <a:ext cx="384048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178308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DDL 执行失败导致复制中断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818120" y="1874520"/>
            <a:ext cx="64008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7818120" y="1874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高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2221992"/>
            <a:ext cx="3840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222199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安全漏洞（SQL 注入）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818120" y="2313432"/>
            <a:ext cx="64008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7818120" y="23134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高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46320" y="2660904"/>
            <a:ext cx="384048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266090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性能影响（大量 DDL）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818120" y="2752344"/>
            <a:ext cx="64008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7818120" y="27523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中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46320" y="3099816"/>
            <a:ext cx="3840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0" y="309981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依赖关系处理复杂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818120" y="3191256"/>
            <a:ext cx="64008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7818120" y="31912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中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46320" y="3538728"/>
            <a:ext cx="384048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Text 45"/>
          <p:cNvSpPr/>
          <p:nvPr/>
        </p:nvSpPr>
        <p:spPr>
          <a:xfrm>
            <a:off x="4937760" y="353872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升级兼容性问题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818120" y="3630168"/>
            <a:ext cx="640080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7818120" y="3630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低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能力图谱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02  CAPABILITY ATLAS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0116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201168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🛠️ 测试工具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pgbench 压测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856232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856232"/>
            <a:ext cx="1554480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920240" y="16276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85%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20665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Tapd 测试管理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295144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295144"/>
            <a:ext cx="1463040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1920240" y="20665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80%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25054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Jest 单元测试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734056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734056"/>
            <a:ext cx="1371600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1920240" y="25054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75%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2944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Playwright E2E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172968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172968"/>
            <a:ext cx="1097280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1920240" y="29443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60%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perf 性能分析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611880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611880"/>
            <a:ext cx="1188720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1920240" y="33832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65%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14600" y="1097280"/>
            <a:ext cx="20116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14600" y="1097280"/>
            <a:ext cx="201168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260604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⚙️ 数据库原理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06040" y="16276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MVCC 并发控制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606040" y="1856232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4" name="Shape 32"/>
          <p:cNvSpPr/>
          <p:nvPr/>
        </p:nvSpPr>
        <p:spPr>
          <a:xfrm>
            <a:off x="2606040" y="1856232"/>
            <a:ext cx="1609344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4069080" y="16276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88%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606040" y="20665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WAL 日志机制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606040" y="2295144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8" name="Shape 36"/>
          <p:cNvSpPr/>
          <p:nvPr/>
        </p:nvSpPr>
        <p:spPr>
          <a:xfrm>
            <a:off x="2606040" y="2295144"/>
            <a:ext cx="1645920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4069080" y="20665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90%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606040" y="25054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B+树索引原理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6040" y="2734056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2" name="Shape 40"/>
          <p:cNvSpPr/>
          <p:nvPr/>
        </p:nvSpPr>
        <p:spPr>
          <a:xfrm>
            <a:off x="2606040" y="2734056"/>
            <a:ext cx="1554480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4069080" y="25054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85%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06040" y="2944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查询优化器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606040" y="3172968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6" name="Shape 44"/>
          <p:cNvSpPr/>
          <p:nvPr/>
        </p:nvSpPr>
        <p:spPr>
          <a:xfrm>
            <a:off x="2606040" y="3172968"/>
            <a:ext cx="1316736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7" name="Text 45"/>
          <p:cNvSpPr/>
          <p:nvPr/>
        </p:nvSpPr>
        <p:spPr>
          <a:xfrm>
            <a:off x="4069080" y="29443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72%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06040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事务隔离级别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606040" y="3611880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0" name="Shape 48"/>
          <p:cNvSpPr/>
          <p:nvPr/>
        </p:nvSpPr>
        <p:spPr>
          <a:xfrm>
            <a:off x="2606040" y="3611880"/>
            <a:ext cx="1463040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4069080" y="33832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80%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65760" y="4251960"/>
            <a:ext cx="20116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65760" y="4251960"/>
            <a:ext cx="201168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📚 基础知识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57200" y="47823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操作系统原理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" y="5010912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7" name="Shape 55"/>
          <p:cNvSpPr/>
          <p:nvPr/>
        </p:nvSpPr>
        <p:spPr>
          <a:xfrm>
            <a:off x="457200" y="5010912"/>
            <a:ext cx="1426464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6"/>
          <p:cNvSpPr/>
          <p:nvPr/>
        </p:nvSpPr>
        <p:spPr>
          <a:xfrm>
            <a:off x="1920240" y="47823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78%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57200" y="52212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计算机网络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7200" y="5449824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1" name="Shape 59"/>
          <p:cNvSpPr/>
          <p:nvPr/>
        </p:nvSpPr>
        <p:spPr>
          <a:xfrm>
            <a:off x="457200" y="5449824"/>
            <a:ext cx="1280160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2" name="Text 60"/>
          <p:cNvSpPr/>
          <p:nvPr/>
        </p:nvSpPr>
        <p:spPr>
          <a:xfrm>
            <a:off x="1920240" y="52212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70%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57200" y="56601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数据结构算法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57200" y="5888736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5" name="Shape 63"/>
          <p:cNvSpPr/>
          <p:nvPr/>
        </p:nvSpPr>
        <p:spPr>
          <a:xfrm>
            <a:off x="457200" y="5888736"/>
            <a:ext cx="1371600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6" name="Text 64"/>
          <p:cNvSpPr/>
          <p:nvPr/>
        </p:nvSpPr>
        <p:spPr>
          <a:xfrm>
            <a:off x="1920240" y="56601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75%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57200" y="6099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分布式系统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57200" y="6327648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9" name="Shape 67"/>
          <p:cNvSpPr/>
          <p:nvPr/>
        </p:nvSpPr>
        <p:spPr>
          <a:xfrm>
            <a:off x="457200" y="6327648"/>
            <a:ext cx="1243584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0" name="Text 68"/>
          <p:cNvSpPr/>
          <p:nvPr/>
        </p:nvSpPr>
        <p:spPr>
          <a:xfrm>
            <a:off x="1920240" y="60990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68%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5720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密码学基础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57200" y="6766560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3" name="Shape 71"/>
          <p:cNvSpPr/>
          <p:nvPr/>
        </p:nvSpPr>
        <p:spPr>
          <a:xfrm>
            <a:off x="457200" y="6766560"/>
            <a:ext cx="1005840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4" name="Text 72"/>
          <p:cNvSpPr/>
          <p:nvPr/>
        </p:nvSpPr>
        <p:spPr>
          <a:xfrm>
            <a:off x="192024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55%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514600" y="4251960"/>
            <a:ext cx="20116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2514600" y="4251960"/>
            <a:ext cx="201168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7" name="Text 75"/>
          <p:cNvSpPr/>
          <p:nvPr/>
        </p:nvSpPr>
        <p:spPr>
          <a:xfrm>
            <a:off x="260604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🗄️ 数据库使用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2606040" y="47823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PostgreSQL 高级特性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606040" y="5010912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0" name="Shape 78"/>
          <p:cNvSpPr/>
          <p:nvPr/>
        </p:nvSpPr>
        <p:spPr>
          <a:xfrm>
            <a:off x="2606040" y="5010912"/>
            <a:ext cx="1554480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1" name="Text 79"/>
          <p:cNvSpPr/>
          <p:nvPr/>
        </p:nvSpPr>
        <p:spPr>
          <a:xfrm>
            <a:off x="4069080" y="47823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85%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2606040" y="52212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SQL 调优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2606040" y="5449824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4" name="Shape 82"/>
          <p:cNvSpPr/>
          <p:nvPr/>
        </p:nvSpPr>
        <p:spPr>
          <a:xfrm>
            <a:off x="2606040" y="5449824"/>
            <a:ext cx="1463040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5" name="Text 83"/>
          <p:cNvSpPr/>
          <p:nvPr/>
        </p:nvSpPr>
        <p:spPr>
          <a:xfrm>
            <a:off x="4069080" y="52212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80%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2606040" y="56601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高可用架构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2606040" y="5888736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8" name="Shape 86"/>
          <p:cNvSpPr/>
          <p:nvPr/>
        </p:nvSpPr>
        <p:spPr>
          <a:xfrm>
            <a:off x="2606040" y="5888736"/>
            <a:ext cx="1371600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9" name="Text 87"/>
          <p:cNvSpPr/>
          <p:nvPr/>
        </p:nvSpPr>
        <p:spPr>
          <a:xfrm>
            <a:off x="4069080" y="56601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75%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2606040" y="6099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备份恢复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2606040" y="6327648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2" name="Shape 90"/>
          <p:cNvSpPr/>
          <p:nvPr/>
        </p:nvSpPr>
        <p:spPr>
          <a:xfrm>
            <a:off x="2606040" y="6327648"/>
            <a:ext cx="1426464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3" name="Text 91"/>
          <p:cNvSpPr/>
          <p:nvPr/>
        </p:nvSpPr>
        <p:spPr>
          <a:xfrm>
            <a:off x="4069080" y="60990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78%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260604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集群管理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2606040" y="6766560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6" name="Shape 94"/>
          <p:cNvSpPr/>
          <p:nvPr/>
        </p:nvSpPr>
        <p:spPr>
          <a:xfrm>
            <a:off x="2606040" y="6766560"/>
            <a:ext cx="1280160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7" name="Text 95"/>
          <p:cNvSpPr/>
          <p:nvPr/>
        </p:nvSpPr>
        <p:spPr>
          <a:xfrm>
            <a:off x="406908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70%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365760" y="4572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2121"/>
                </a:solidFill>
              </a:rPr>
              <a:t>能力等级：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1188720" y="4617720"/>
            <a:ext cx="457200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0" name="Text 98"/>
          <p:cNvSpPr/>
          <p:nvPr/>
        </p:nvSpPr>
        <p:spPr>
          <a:xfrm>
            <a:off x="1691640" y="4572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80-100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2103120" y="4617720"/>
            <a:ext cx="457200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2" name="Text 100"/>
          <p:cNvSpPr/>
          <p:nvPr/>
        </p:nvSpPr>
        <p:spPr>
          <a:xfrm>
            <a:off x="2606040" y="4572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65-79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3017520" y="4617720"/>
            <a:ext cx="45720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4" name="Text 102"/>
          <p:cNvSpPr/>
          <p:nvPr/>
        </p:nvSpPr>
        <p:spPr>
          <a:xfrm>
            <a:off x="3520440" y="4572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&lt;65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优势与不足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02  STRENGTHS &amp; WEAKNESSES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402336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✅ 优势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169164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6916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PostgreSQL 内核深度理解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965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长期参与 PG 内核开发，熟悉 MVCC、WAL、逻辑解码等核心机制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242316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231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逻辑复制全链路掌握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697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覆盖发布端、传输、解码、订阅端完整链路，代码实现能力扎实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" y="315468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546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文档与代码质量并重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429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配套设计文档、实现文档、测试文档，交付质量有保障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388620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886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AI 辅助编程效率高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160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善用 AI 工具提升开发效率，保持代码风格一致性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109728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097280"/>
            <a:ext cx="4023360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10972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⚠️ 不足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00600" y="169164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16916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测试覆盖深度待提升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1965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E2E 测试用例较少，边界场景覆盖不足，部分极端场景未充分验证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00600" y="242316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4231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性能基准数据不足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2697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DDL 同步对复制性能的影响缺乏量化数据，尚未做大规模压力测试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315468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1546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跨版本兼容性待验证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3429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不同 PG 版本间的 DDL 同步兼容性未系统测试，可能存在边界问题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388620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3886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错误恢复机制不完善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4160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订阅端 DDL 执行失败后的回滚和重试机制尚需完善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总体评价：代码能力扎实，文档规范完整，但测试深度和性能验证需持续加强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未来计划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03  NEXT STEPS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6002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1600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88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78308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</a:rPr>
              <a:t>语法扩展与验证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224028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修改 gram.y 扩展语法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8912" y="256032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添加 DDL 选项解析函数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38912" y="288036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实现选项校验逻辑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8912" y="320040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更新 pg_publication 系统表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4297680"/>
            <a:ext cx="1325880" cy="32004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2976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已完成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03120" y="1188720"/>
            <a:ext cx="16002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103120" y="1188720"/>
            <a:ext cx="1600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2103120" y="1188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76272" y="178308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</a:rPr>
              <a:t>系统表创建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76272" y="224028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创建 pg_publication_sync.h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176272" y="256032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创建 pg_publication_sync.dat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176272" y="288036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更新 Catalog.pm 映射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176272" y="320040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创建初始数据加载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40280" y="4297680"/>
            <a:ext cx="1325880" cy="32004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240280" y="42976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已完成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0" y="1188720"/>
            <a:ext cx="16002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840480" y="1188720"/>
            <a:ext cx="1600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0" y="1188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913632" y="178308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</a:rPr>
              <a:t>发布端实现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913632" y="224028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DDL 捕获机制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913632" y="256032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消息格式化与插入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913632" y="288036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表增删 A/D 消息发布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977640" y="4297680"/>
            <a:ext cx="1325880" cy="32004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977640" y="42976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已完成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577840" y="1188720"/>
            <a:ext cx="16002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577840" y="1188720"/>
            <a:ext cx="1600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5577840" y="1188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650992" y="178308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</a:rPr>
              <a:t>订阅端实现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50992" y="224028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DDL 消息识别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650992" y="256032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DDL 安全执行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650992" y="288036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错误处理与恢复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715000" y="4297680"/>
            <a:ext cx="1325880" cy="32004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715000" y="42976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已完成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15200" y="1188720"/>
            <a:ext cx="16002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315200" y="1188720"/>
            <a:ext cx="1600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0" y="1188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5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388352" y="178308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</a:rPr>
              <a:t>多数据库适配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388352" y="224028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SQL Server DDL 语法适配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88352" y="256032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Oracle DDL 语法适配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388352" y="288036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Exbase 兼容层适配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388352" y="320040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跨数据库 DDL 映射规则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452360" y="4297680"/>
            <a:ext cx="1325880" cy="32004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7452360" y="42976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规划中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后续优化方向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03  OPTIMIZATION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265176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DDL 过滤规则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支持基于正则表达式的 DDL 语句过滤，实现精细化同步控制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188720"/>
            <a:ext cx="265176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冲突解决策略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783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提供可配置的冲突解决机制，处理订阅端命名冲突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265176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DDL 回滚支持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1783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支持订阅端 DDL 回滚操作，增强可靠性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17520"/>
            <a:ext cx="265176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扩展 DDL 类型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3611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逐步支持 sequence、trigger、view 等更多 DDL 类型同步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30175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3017520"/>
            <a:ext cx="265176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SQL Server 适配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29000" y="3611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适配 T-SQL DDL 语法，实现跨数据库 DDL 同步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30175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3017520"/>
            <a:ext cx="265176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Oracle / Exbase 适配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63640" y="3611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适配 PL/SQL DDL 语法，兼容 Exbase 兼容层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61E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总结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✅ 完成用户接口扩展（CREATE/ALTER PUBLICATION/SUBSCRIPTION ddl 选项）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✅ 完成系统表 pg_publication_sync 设计，支持配置型 DDL 同步控制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✅ 完成核心代码修改，发布端 DDL 捕获机制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⏳ 订阅端 DDL 应用逻辑进行中，预计下阶段完成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📋 撰写 6 篇设计/实现文档，完整覆盖需求到交付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206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逻辑复制支持 DDL 功能将进一步增强 PostgreSQL 逻辑复制的实用性，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降低用户在异构数据库环境下的运维成本。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逻辑复制支持DDL功能开发总结</dc:title>
  <dc:subject>PptxGenJS Presentation</dc:subject>
  <dc:creator>PostgreSQL Team</dc:creator>
  <cp:lastModifiedBy>PostgreSQL Team</cp:lastModifiedBy>
  <cp:revision>1</cp:revision>
  <dcterms:created xsi:type="dcterms:W3CDTF">2026-06-08T07:00:07Z</dcterms:created>
  <dcterms:modified xsi:type="dcterms:W3CDTF">2026-06-08T07:00:07Z</dcterms:modified>
</cp:coreProperties>
</file>