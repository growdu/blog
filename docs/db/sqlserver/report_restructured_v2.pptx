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1E4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252F5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逻辑复制支持DDL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</a:rPr>
              <a:t>功能开发总结汇报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工作目标达成 | 重点复盘 | 未来计划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114800"/>
            <a:ext cx="137160" cy="10287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97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PostgreSQL 逻辑复制团队  |  2026年6月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280160"/>
            <a:ext cx="9144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716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2880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工作目标达成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代码修改与文档撰写完成情况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468880"/>
            <a:ext cx="9144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56032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82880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重点复盘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2880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技术方案设计与实现亮点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657600"/>
            <a:ext cx="9144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7490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82880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未来计划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2880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后续工作规划与优化方向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工作目标达成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01  CODE &amp; DOCS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716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8+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核心代码文件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8328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71600"/>
            <a:ext cx="822960" cy="822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6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338328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设计/实现文档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0"/>
            <a:ext cx="822960" cy="822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3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621792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新增系统表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完成进度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3794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用户接口扩展 (CREATE/ALTER PUBLICATION/SUBSCRIPTION)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212080" y="3840480"/>
            <a:ext cx="32004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6"/>
          <p:cNvSpPr/>
          <p:nvPr/>
        </p:nvSpPr>
        <p:spPr>
          <a:xfrm>
            <a:off x="5212080" y="3840480"/>
            <a:ext cx="320040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7"/>
          <p:cNvSpPr/>
          <p:nvPr/>
        </p:nvSpPr>
        <p:spPr>
          <a:xfrm>
            <a:off x="8503920" y="3794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100%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4087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系统表 pg_publication_sync 设计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212080" y="4133088"/>
            <a:ext cx="32004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Shape 20"/>
          <p:cNvSpPr/>
          <p:nvPr/>
        </p:nvSpPr>
        <p:spPr>
          <a:xfrm>
            <a:off x="5212080" y="4133088"/>
            <a:ext cx="320040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1"/>
          <p:cNvSpPr/>
          <p:nvPr/>
        </p:nvSpPr>
        <p:spPr>
          <a:xfrm>
            <a:off x="8503920" y="4087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100%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48640" y="43799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发布端 DDL 捕获机制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212080" y="4425696"/>
            <a:ext cx="32004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4"/>
          <p:cNvSpPr/>
          <p:nvPr/>
        </p:nvSpPr>
        <p:spPr>
          <a:xfrm>
            <a:off x="5212080" y="4425696"/>
            <a:ext cx="272034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5"/>
          <p:cNvSpPr/>
          <p:nvPr/>
        </p:nvSpPr>
        <p:spPr>
          <a:xfrm>
            <a:off x="8503920" y="43799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85%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48640" y="46725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订阅端 DDL 应用逻辑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212080" y="4718304"/>
            <a:ext cx="32004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Shape 28"/>
          <p:cNvSpPr/>
          <p:nvPr/>
        </p:nvSpPr>
        <p:spPr>
          <a:xfrm>
            <a:off x="5212080" y="4718304"/>
            <a:ext cx="22402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29"/>
          <p:cNvSpPr/>
          <p:nvPr/>
        </p:nvSpPr>
        <p:spPr>
          <a:xfrm>
            <a:off x="8503920" y="46725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代码修改详情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01  CODE CHANGES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修改文件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45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gram.y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扩展 CREATE/ALTER PUBLICATION/SUBSCRIPTION 语法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39112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75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publicationcmds.c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2677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publication DDL 选项解析与校验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69464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69464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06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subscriptioncmds.c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7980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subscription DDL 选项解析与校验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099816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99816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36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utility.c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3284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DDL 捕获与消息发布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630168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30168"/>
            <a:ext cx="54864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66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pg_publication_sync.h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858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新系统表头文件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160520"/>
            <a:ext cx="54864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197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pg_publication_sync.dat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389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新系统表数据文件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DDL 类型支持矩阵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DDL类型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 TABLE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 ALL TABLES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178308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table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205740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index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233172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sequence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1792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260604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93776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trigger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46320" y="288036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51"/>
          <p:cNvSpPr/>
          <p:nvPr/>
        </p:nvSpPr>
        <p:spPr>
          <a:xfrm>
            <a:off x="493776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view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1792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31520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46320" y="315468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93776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rule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1792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31520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846320" y="342900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1" name="Text 59"/>
          <p:cNvSpPr/>
          <p:nvPr/>
        </p:nvSpPr>
        <p:spPr>
          <a:xfrm>
            <a:off x="493776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schema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21792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31520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846320" y="370332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93776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function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21792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3152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846320" y="397764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9" name="Text 67"/>
          <p:cNvSpPr/>
          <p:nvPr/>
        </p:nvSpPr>
        <p:spPr>
          <a:xfrm>
            <a:off x="493776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type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21792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31520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846320" y="425196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493776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domain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21792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31520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846320" y="452628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7" name="Text 75"/>
          <p:cNvSpPr/>
          <p:nvPr/>
        </p:nvSpPr>
        <p:spPr>
          <a:xfrm>
            <a:off x="493776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extension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21792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31520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846320" y="4754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* FOR TABLE/FOR TABLES IN SCHEMA 只支持 table 和 index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文档撰写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01  DOCUMENTATION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98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需求文档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逻辑复制支持DDL需求分析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需求背景、功能规划、接口设计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73152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98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设计文档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逻辑复制支持DDL详细设计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系统表设计、发布/订阅端方案、测试策略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77440"/>
            <a:ext cx="73152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87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技术文档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新增逻辑复制同步系统表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pg_publication_sync 表结构、字段说明、索引设计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77440"/>
            <a:ext cx="73152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487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交付文档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逻辑复制支持DDL开发交付计划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阶段划分、任务分解、工时估算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675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分析文档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DDL写入WAL日志的影响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WAL 日志记录策略、性能影响分析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566160"/>
            <a:ext cx="73152" cy="10058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675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评审文档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支持DDL评审相关问题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251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评审意见、争议点、解决方案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技术方案设计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统一DDL复制架构（Capture → Filter → Transport → Replay → Adapter）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DDL Producer Layer</a:t>
            </a:r>
          </a:p>
          <a:p>
            <a:r>
              <a:t>ProcessUtility → CapturePublicationSyncDDL → Rule Filter → pg_publication_sync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116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Replication Transport Layer</a:t>
            </a:r>
          </a:p>
          <a:p>
            <a:r>
              <a:t>Logical Decoding → pgoutput → Replication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9260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DDL Replay Framework</a:t>
            </a:r>
          </a:p>
          <a:p>
            <a:r>
              <a:t>apply_handle_ddl → Rule Filter → Replay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0233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SQL 适配器层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3459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66656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PostgreSQL Adapter</a:t>
            </a:r>
          </a:p>
          <a:p>
            <a:r>
              <a:t>Babelfish Adapter</a:t>
            </a:r>
          </a:p>
          <a:p>
            <a:r>
              <a:t>Oracle Adapter</a:t>
            </a:r>
          </a:p>
          <a:p>
            <a:r>
              <a:t>MySQL Adapter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实现亮点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HIGHLIGHTS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精确的 DDL 类型控制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通过 bitmask 设计精细化控制每个publication和subscription的DDL同步范围，支持11种DDL类型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用户接口友好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1965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通过 CREATE/ALTER PUBLICATION/SUBSCRIPTION 的 WITH (ddl='table,index,...') 语法直接声明，零学习成本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92608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与现有架构无缝融合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008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pg_publication_sync 类似 pg_publication_rel 的扩展控制表，遵循 PostgreSQL catalog 设计规范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292608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6928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向后兼容设计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93776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默认不启用 DDL 同步，现有逻辑复制功能完全不受影响，可平滑升级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性能与风险分析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DDL 同步开销预估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DDL 捕获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1627632"/>
            <a:ext cx="57912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25450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低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WAL 写入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20240" y="2130552"/>
            <a:ext cx="173736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逻辑解码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20240" y="2633472"/>
            <a:ext cx="138988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订阅端应用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0240" y="3136392"/>
            <a:ext cx="28956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86156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总计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0240" y="3639312"/>
            <a:ext cx="347472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57%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风险矩阵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风险项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等级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783080"/>
            <a:ext cx="38404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17830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DDL 执行失败导致复制中断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18120" y="1874520"/>
            <a:ext cx="6400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7818120" y="1874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高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221992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22199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安全漏洞（SQL 注入）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818120" y="2313432"/>
            <a:ext cx="6400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7818120" y="2313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高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660904"/>
            <a:ext cx="38404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266090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性能影响（大量 DDL）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18120" y="2752344"/>
            <a:ext cx="6400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7818120" y="27523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3099816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09981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依赖关系处理复杂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818120" y="3191256"/>
            <a:ext cx="6400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7818120" y="31912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3538728"/>
            <a:ext cx="38404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353872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升级兼容性问题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818120" y="3630168"/>
            <a:ext cx="6400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7818120" y="3630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低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能力图谱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CAPABILITY ATLAS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🛠️ 测试工具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pgbench 压测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56232"/>
            <a:ext cx="155448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627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85%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066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Tapd 测试管理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95144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295144"/>
            <a:ext cx="146304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80%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Jest 单元测试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34056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734056"/>
            <a:ext cx="137160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920240" y="25054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75%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Playwright E2E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172968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172968"/>
            <a:ext cx="109728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920240" y="2944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60%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perf 性能分析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611880"/>
            <a:ext cx="118872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1920240" y="3383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65%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14600" y="109728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14600" y="109728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260604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⚙️ 数据库原理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06040" y="1627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MVCC 并发控制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06040" y="1856232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Shape 32"/>
          <p:cNvSpPr/>
          <p:nvPr/>
        </p:nvSpPr>
        <p:spPr>
          <a:xfrm>
            <a:off x="2606040" y="1856232"/>
            <a:ext cx="1609344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069080" y="1627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88%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06040" y="2066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WAL 日志机制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06040" y="2295144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Shape 36"/>
          <p:cNvSpPr/>
          <p:nvPr/>
        </p:nvSpPr>
        <p:spPr>
          <a:xfrm>
            <a:off x="2606040" y="2295144"/>
            <a:ext cx="164592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4069080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90%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60604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B+树索引原理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6040" y="2734056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Shape 40"/>
          <p:cNvSpPr/>
          <p:nvPr/>
        </p:nvSpPr>
        <p:spPr>
          <a:xfrm>
            <a:off x="2606040" y="2734056"/>
            <a:ext cx="155448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4069080" y="25054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85%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06040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查询优化器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606040" y="3172968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Shape 44"/>
          <p:cNvSpPr/>
          <p:nvPr/>
        </p:nvSpPr>
        <p:spPr>
          <a:xfrm>
            <a:off x="2606040" y="3172968"/>
            <a:ext cx="1316736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4069080" y="2944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72%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0604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事务隔离级别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6040" y="3611880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Shape 48"/>
          <p:cNvSpPr/>
          <p:nvPr/>
        </p:nvSpPr>
        <p:spPr>
          <a:xfrm>
            <a:off x="2606040" y="3611880"/>
            <a:ext cx="146304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4069080" y="3383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80%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425196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5760" y="425196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📚 基础知识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" y="4782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操作系统原理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5010912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7" name="Shape 55"/>
          <p:cNvSpPr/>
          <p:nvPr/>
        </p:nvSpPr>
        <p:spPr>
          <a:xfrm>
            <a:off x="457200" y="5010912"/>
            <a:ext cx="1426464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1920240" y="47823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78%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7200" y="52212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计算机网络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5449824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Shape 59"/>
          <p:cNvSpPr/>
          <p:nvPr/>
        </p:nvSpPr>
        <p:spPr>
          <a:xfrm>
            <a:off x="457200" y="5449824"/>
            <a:ext cx="128016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2" name="Text 60"/>
          <p:cNvSpPr/>
          <p:nvPr/>
        </p:nvSpPr>
        <p:spPr>
          <a:xfrm>
            <a:off x="1920240" y="52212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70%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57200" y="56601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数据结构算法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5888736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5" name="Shape 63"/>
          <p:cNvSpPr/>
          <p:nvPr/>
        </p:nvSpPr>
        <p:spPr>
          <a:xfrm>
            <a:off x="457200" y="5888736"/>
            <a:ext cx="137160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6" name="Text 64"/>
          <p:cNvSpPr/>
          <p:nvPr/>
        </p:nvSpPr>
        <p:spPr>
          <a:xfrm>
            <a:off x="1920240" y="5660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75%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57200" y="6099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分布式系统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6327648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9" name="Shape 67"/>
          <p:cNvSpPr/>
          <p:nvPr/>
        </p:nvSpPr>
        <p:spPr>
          <a:xfrm>
            <a:off x="457200" y="6327648"/>
            <a:ext cx="1243584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0" name="Text 68"/>
          <p:cNvSpPr/>
          <p:nvPr/>
        </p:nvSpPr>
        <p:spPr>
          <a:xfrm>
            <a:off x="1920240" y="6099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68%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572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密码学基础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57200" y="6766560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3" name="Shape 71"/>
          <p:cNvSpPr/>
          <p:nvPr/>
        </p:nvSpPr>
        <p:spPr>
          <a:xfrm>
            <a:off x="457200" y="6766560"/>
            <a:ext cx="100584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4" name="Text 72"/>
          <p:cNvSpPr/>
          <p:nvPr/>
        </p:nvSpPr>
        <p:spPr>
          <a:xfrm>
            <a:off x="192024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55%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514600" y="425196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2514600" y="4251960"/>
            <a:ext cx="20116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7" name="Text 75"/>
          <p:cNvSpPr/>
          <p:nvPr/>
        </p:nvSpPr>
        <p:spPr>
          <a:xfrm>
            <a:off x="26060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🗄️ 数据库使用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2606040" y="4782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PostgreSQL 高级特性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606040" y="5010912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0" name="Shape 78"/>
          <p:cNvSpPr/>
          <p:nvPr/>
        </p:nvSpPr>
        <p:spPr>
          <a:xfrm>
            <a:off x="2606040" y="5010912"/>
            <a:ext cx="155448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1" name="Text 79"/>
          <p:cNvSpPr/>
          <p:nvPr/>
        </p:nvSpPr>
        <p:spPr>
          <a:xfrm>
            <a:off x="4069080" y="47823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85%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2606040" y="52212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SQL 调优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606040" y="5449824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Shape 82"/>
          <p:cNvSpPr/>
          <p:nvPr/>
        </p:nvSpPr>
        <p:spPr>
          <a:xfrm>
            <a:off x="2606040" y="5449824"/>
            <a:ext cx="146304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5" name="Text 83"/>
          <p:cNvSpPr/>
          <p:nvPr/>
        </p:nvSpPr>
        <p:spPr>
          <a:xfrm>
            <a:off x="4069080" y="52212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80%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2606040" y="56601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高可用架构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606040" y="5888736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8" name="Shape 86"/>
          <p:cNvSpPr/>
          <p:nvPr/>
        </p:nvSpPr>
        <p:spPr>
          <a:xfrm>
            <a:off x="2606040" y="5888736"/>
            <a:ext cx="137160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9" name="Text 87"/>
          <p:cNvSpPr/>
          <p:nvPr/>
        </p:nvSpPr>
        <p:spPr>
          <a:xfrm>
            <a:off x="4069080" y="5660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75%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2606040" y="6099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备份恢复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606040" y="6327648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2" name="Shape 90"/>
          <p:cNvSpPr/>
          <p:nvPr/>
        </p:nvSpPr>
        <p:spPr>
          <a:xfrm>
            <a:off x="2606040" y="6327648"/>
            <a:ext cx="1426464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3" name="Text 91"/>
          <p:cNvSpPr/>
          <p:nvPr/>
        </p:nvSpPr>
        <p:spPr>
          <a:xfrm>
            <a:off x="4069080" y="6099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78%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260604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集群管理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606040" y="6766560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6" name="Shape 94"/>
          <p:cNvSpPr/>
          <p:nvPr/>
        </p:nvSpPr>
        <p:spPr>
          <a:xfrm>
            <a:off x="2606040" y="6766560"/>
            <a:ext cx="128016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7" name="Text 95"/>
          <p:cNvSpPr/>
          <p:nvPr/>
        </p:nvSpPr>
        <p:spPr>
          <a:xfrm>
            <a:off x="406908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70%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365760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121"/>
                </a:solidFill>
              </a:rPr>
              <a:t>能力等级：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1188720" y="4617720"/>
            <a:ext cx="45720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0" name="Text 98"/>
          <p:cNvSpPr/>
          <p:nvPr/>
        </p:nvSpPr>
        <p:spPr>
          <a:xfrm>
            <a:off x="1691640" y="4572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80-100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2103120" y="4617720"/>
            <a:ext cx="45720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2" name="Text 100"/>
          <p:cNvSpPr/>
          <p:nvPr/>
        </p:nvSpPr>
        <p:spPr>
          <a:xfrm>
            <a:off x="2606040" y="4572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65-79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017520" y="4617720"/>
            <a:ext cx="45720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4" name="Text 102"/>
          <p:cNvSpPr/>
          <p:nvPr/>
        </p:nvSpPr>
        <p:spPr>
          <a:xfrm>
            <a:off x="3520440" y="4572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&lt;65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优势与不足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STRENGTHS &amp; WEAKNESSES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优势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169164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PostgreSQL 内核深度理解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长期参与 PG 内核开发，熟悉 MVCC、WAL、逻辑解码等核心机制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42316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23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逻辑复制全链路掌握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覆盖发布端、传输、解码、订阅端完整链路，代码实现能力扎实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15468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54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文档与代码质量并重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配套设计文档、实现文档、测试文档，交付质量有保障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88620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AI 辅助编程效率高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善用 AI 工具提升开发效率，保持代码风格一致性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97280"/>
            <a:ext cx="402336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097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⚠️ 不足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00600" y="169164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测试覆盖深度待提升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E2E 测试用例较少，边界场景覆盖不足，部分极端场景未充分验证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242316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423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性能基准数据不足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DDL 同步对复制性能的影响缺乏量化数据，尚未做大规模压力测试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15468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154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跨版本兼容性待验证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不同 PG 版本间的 DDL 同步兼容性未系统测试，可能存在边界问题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388620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错误恢复机制不完善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订阅端 DDL 执行失败后的回滚和重试机制尚需完善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总体评价：代码能力扎实，文档规范完整，但测试深度和性能验证需持续加强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未来计划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03  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语法扩展与验证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修改 gram.y 扩展语法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添加 DDL 选项解析函数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891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实现选项校验逻辑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912" y="320040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更新 pg_publication 系统表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4297680"/>
            <a:ext cx="132588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0312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0312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7627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系统表创建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7627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创建 pg_publication_sync.h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7627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创建 pg_publication_sync.dat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7627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更新 Catalog.pm 映射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76272" y="320040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创建初始数据加载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40280" y="4297680"/>
            <a:ext cx="132588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24028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1363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发布端实现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1363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DDL 捕获机制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1363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消息格式化与插入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91363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表增删 A/D 消息发布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977640" y="4297680"/>
            <a:ext cx="132588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97764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7784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7784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557784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5099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订阅端实现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5099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DDL 消息识别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5099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DDL 安全执行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5099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错误处理与恢复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15000" y="4297680"/>
            <a:ext cx="132588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71500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31520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5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38835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多数据库适配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8835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SQL Server DDL 语法适配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8835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Oracle DDL 语法适配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8835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Exbase 兼容层适配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88352" y="320040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跨数据库 DDL 映射规则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452360" y="4297680"/>
            <a:ext cx="132588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45236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规划中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后续优化方向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03  OPTIMIZATION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DDL 过滤规则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支持基于正则表达式的 DDL 语句过滤，实现精细化同步控制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冲突解决策略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提供可配置的冲突解决机制，处理订阅端命名冲突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DDL 回滚支持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支持订阅端 DDL 回滚操作，增强可靠性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175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扩展 DDL 类型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逐步支持 sequence、trigger、view 等更多 DDL 类型同步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0175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0175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SQL Server 适配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适配 T-SQL DDL 语法，实现跨数据库 DDL 同步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0175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Oracle / Exbase 适配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适配 PL/SQL DDL 语法，兼容 Exbase 兼容层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1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总结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完成用户接口扩展（CREATE/ALTER PUBLICATION/SUBSCRIPTION ddl 选项）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完成系统表 pg_publication_sync 设计，支持配置型 DDL 同步控制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完成核心代码修改，发布端 DDL 捕获机制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⏳ 订阅端 DDL 应用逻辑进行中，预计下阶段完成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📋 撰写 6 篇设计/实现文档，完整覆盖需求到交付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逻辑复制支持 DDL 功能将进一步增强 PostgreSQL 逻辑复制的实用性，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降低用户在异构数据库环境下的运维成本。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代码与交付成果统计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03  DELIVERABLES</a:t>
            </a:r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9144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8+</a:t>
            </a:r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核心代码文件</a:t>
            </a:r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91440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20+</a:t>
            </a:r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核心函数/模块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02336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</a:t>
            </a:r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新增系统表</a:t>
            </a:r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4023360" cy="91440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6篇</a:t>
            </a:r>
          </a:p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</a:rPr>
              <a:t>设计文档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4023360" cy="9144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566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11类</a:t>
            </a:r>
          </a:p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DDL类型支持</a:t>
            </a:r>
          </a:p>
        </p:txBody>
      </p:sp>
      <p:sp>
        <p:nvSpPr>
          <p:cNvPr id="16" name="Shape 14"/>
          <p:cNvSpPr/>
          <p:nvPr/>
        </p:nvSpPr>
        <p:spPr>
          <a:xfrm>
            <a:off x="4754880" y="3383280"/>
            <a:ext cx="4023360" cy="9144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566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pubddl + subddl</a:t>
            </a:r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Publication/Subscription扩展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核心创新特性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03  HIGHLIGHTS</a:t>
            </a:r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1E2761"/>
                </a:solidFill>
              </a:rPr>
              <a:t>1. DDL Capture Framework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/>
            </a:r>
          </a:p>
          <a:p>
            <a:r>
              <a:rPr lang="en-US" sz="1100" dirty="0">
                <a:solidFill>
                  <a:srgbClr val="212121"/>
                </a:solidFill>
              </a:rPr>
              <a:t>- 基于 ProcessUtility 的统一DDL捕获框架</a:t>
            </a:r>
          </a:p>
          <a:p>
            <a:r>
              <a:rPr lang="en-US" sz="1100" dirty="0">
                <a:solidFill>
                  <a:srgbClr val="212121"/>
                </a:solidFill>
              </a:rPr>
              <a:t>- publication粒度展开</a:t>
            </a:r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1E2761"/>
                </a:solidFill>
              </a:rPr>
              <a:t>2. Rule Filter Framework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/>
            </a:r>
          </a:p>
          <a:p>
            <a:r>
              <a:rPr lang="en-US" sz="1100" dirty="0">
                <a:solidFill>
                  <a:srgbClr val="212121"/>
                </a:solidFill>
              </a:rPr>
              <a:t>- 发布端/订阅端双向过滤</a:t>
            </a:r>
          </a:p>
          <a:p>
            <a:r>
              <a:rPr lang="en-US" sz="1100" dirty="0">
                <a:solidFill>
                  <a:srgbClr val="212121"/>
                </a:solidFill>
              </a:rPr>
              <a:t>- DDL类型、Schema、Regex扩展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383280"/>
            <a:ext cx="762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1E2761"/>
                </a:solidFill>
              </a:rPr>
              <a:t>3. DDL Replay Framework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/>
            </a:r>
          </a:p>
          <a:p>
            <a:r>
              <a:rPr lang="en-US" sz="1100" dirty="0">
                <a:solidFill>
                  <a:srgbClr val="212121"/>
                </a:solidFill>
              </a:rPr>
              <a:t>- apply_handle_ddl统一入口  |  DDL/DML顺序一致性  |  多数据库Adapter扩展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下一阶段路线图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03  ROADMAP</a:t>
            </a:r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16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1072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95400"/>
            <a:ext cx="231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Phase1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1565880"/>
            <a:ext cx="231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完成DDL发布端闭环</a:t>
            </a:r>
          </a:p>
        </p:txBody>
      </p:sp>
      <p:sp>
        <p:nvSpPr>
          <p:cNvPr id="9" name="Shape 7"/>
          <p:cNvSpPr/>
          <p:nvPr/>
        </p:nvSpPr>
        <p:spPr>
          <a:xfrm>
            <a:off x="3266160" y="1188720"/>
            <a:ext cx="261072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356640" y="1295400"/>
            <a:ext cx="231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Phase2</a:t>
            </a:r>
          </a:p>
        </p:txBody>
      </p:sp>
      <p:sp>
        <p:nvSpPr>
          <p:cNvPr id="11" name="Text 9"/>
          <p:cNvSpPr/>
          <p:nvPr/>
        </p:nvSpPr>
        <p:spPr>
          <a:xfrm>
            <a:off x="3356640" y="1565880"/>
            <a:ext cx="231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订阅端Replay Framework</a:t>
            </a:r>
          </a:p>
        </p:txBody>
      </p:sp>
      <p:sp>
        <p:nvSpPr>
          <p:cNvPr id="12" name="Shape 10"/>
          <p:cNvSpPr/>
          <p:nvPr/>
        </p:nvSpPr>
        <p:spPr>
          <a:xfrm>
            <a:off x="6075120" y="1188720"/>
            <a:ext cx="261072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165600" y="1295400"/>
            <a:ext cx="231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Phase3</a:t>
            </a:r>
          </a:p>
        </p:txBody>
      </p:sp>
      <p:sp>
        <p:nvSpPr>
          <p:cNvPr id="14" name="Text 12"/>
          <p:cNvSpPr/>
          <p:nvPr/>
        </p:nvSpPr>
        <p:spPr>
          <a:xfrm>
            <a:off x="6165600" y="1565880"/>
            <a:ext cx="231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Babelfish(TSQL)适配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050320"/>
            <a:ext cx="261072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157000"/>
            <a:ext cx="231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Phase4</a:t>
            </a:r>
          </a:p>
        </p:txBody>
      </p:sp>
      <p:sp>
        <p:nvSpPr>
          <p:cNvPr id="17" name="Text 15"/>
          <p:cNvSpPr/>
          <p:nvPr/>
        </p:nvSpPr>
        <p:spPr>
          <a:xfrm>
            <a:off x="548640" y="2427480"/>
            <a:ext cx="231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Oracle/MySQL Adapter</a:t>
            </a:r>
          </a:p>
        </p:txBody>
      </p:sp>
      <p:sp>
        <p:nvSpPr>
          <p:cNvPr id="18" name="Shape 16"/>
          <p:cNvSpPr/>
          <p:nvPr/>
        </p:nvSpPr>
        <p:spPr>
          <a:xfrm>
            <a:off x="3266160" y="2050320"/>
            <a:ext cx="261072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3356640" y="2157000"/>
            <a:ext cx="231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Phase5</a:t>
            </a:r>
          </a:p>
        </p:txBody>
      </p:sp>
      <p:sp>
        <p:nvSpPr>
          <p:cNvPr id="20" name="Text 18"/>
          <p:cNvSpPr/>
          <p:nvPr/>
        </p:nvSpPr>
        <p:spPr>
          <a:xfrm>
            <a:off x="3356640" y="2427480"/>
            <a:ext cx="231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Barrier、审计、重试机制</a:t>
            </a:r>
          </a:p>
        </p:txBody>
      </p:sp>
      <p:sp>
        <p:nvSpPr>
          <p:cNvPr id="21" name="Shape 19"/>
          <p:cNvSpPr/>
          <p:nvPr/>
        </p:nvSpPr>
        <p:spPr>
          <a:xfrm>
            <a:off x="6075120" y="2050320"/>
            <a:ext cx="261072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165600" y="2157000"/>
            <a:ext cx="231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Phase6</a:t>
            </a:r>
          </a:p>
        </p:txBody>
      </p:sp>
      <p:sp>
        <p:nvSpPr>
          <p:cNvPr id="23" name="Text 21"/>
          <p:cNvSpPr/>
          <p:nvPr/>
        </p:nvSpPr>
        <p:spPr>
          <a:xfrm>
            <a:off x="6165600" y="2427480"/>
            <a:ext cx="231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专利申请与产品化推广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SQL Server / Babelfish适配架构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03  ARCHITECTURE</a:t>
            </a:r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17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tep 1"/>
          <p:cNvSpPr/>
          <p:nvPr/>
        </p:nvSpPr>
        <p:spPr>
          <a:xfrm>
            <a:off x="685800" y="1371600"/>
            <a:ext cx="365760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DDL Message</a:t>
            </a:r>
          </a:p>
        </p:txBody>
      </p:sp>
      <p:sp>
        <p:nvSpPr>
          <p:cNvPr id="8" name="Arrow 1"/>
          <p:cNvSpPr/>
          <p:nvPr/>
        </p:nvSpPr>
        <p:spPr>
          <a:xfrm>
            <a:off x="2286000" y="182880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9" name="Step 2"/>
          <p:cNvSpPr/>
          <p:nvPr/>
        </p:nvSpPr>
        <p:spPr>
          <a:xfrm>
            <a:off x="685800" y="2050320"/>
            <a:ext cx="365760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apply_handle_ddl()</a:t>
            </a:r>
          </a:p>
        </p:txBody>
      </p:sp>
      <p:sp>
        <p:nvSpPr>
          <p:cNvPr id="10" name="Arrow 2"/>
          <p:cNvSpPr/>
          <p:nvPr/>
        </p:nvSpPr>
        <p:spPr>
          <a:xfrm>
            <a:off x="2286000" y="2507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1" name="Step 3"/>
          <p:cNvSpPr/>
          <p:nvPr/>
        </p:nvSpPr>
        <p:spPr>
          <a:xfrm>
            <a:off x="685800" y="2729040"/>
            <a:ext cx="365760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Replay Framework</a:t>
            </a:r>
          </a:p>
        </p:txBody>
      </p:sp>
      <p:sp>
        <p:nvSpPr>
          <p:cNvPr id="12" name="Arrow 3"/>
          <p:cNvSpPr/>
          <p:nvPr/>
        </p:nvSpPr>
        <p:spPr>
          <a:xfrm>
            <a:off x="2286000" y="3186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3" name="Step 4"/>
          <p:cNvSpPr/>
          <p:nvPr/>
        </p:nvSpPr>
        <p:spPr>
          <a:xfrm>
            <a:off x="685800" y="3407760"/>
            <a:ext cx="365760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Babelfish Adapter</a:t>
            </a:r>
          </a:p>
        </p:txBody>
      </p:sp>
      <p:sp>
        <p:nvSpPr>
          <p:cNvPr id="14" name="Arrow 4"/>
          <p:cNvSpPr/>
          <p:nvPr/>
        </p:nvSpPr>
        <p:spPr>
          <a:xfrm>
            <a:off x="2286000" y="3864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5" name="Step 5"/>
          <p:cNvSpPr/>
          <p:nvPr/>
        </p:nvSpPr>
        <p:spPr>
          <a:xfrm>
            <a:off x="685800" y="4086480"/>
            <a:ext cx="365760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TSQL Execute</a:t>
            </a:r>
          </a:p>
        </p:txBody>
      </p:sp>
      <p:sp>
        <p:nvSpPr>
          <p:cNvPr id="16" name="Shape 16"/>
          <p:cNvSpPr/>
          <p:nvPr/>
        </p:nvSpPr>
        <p:spPr>
          <a:xfrm>
            <a:off x="4754880" y="118872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4937760" y="13716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1E2761"/>
                </a:solidFill>
              </a:rPr>
              <a:t>多数据库适配支持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/>
            </a:r>
          </a:p>
          <a:p>
            <a:r>
              <a:rPr lang="en-US" sz="1200" dirty="0">
                <a:solidFill>
                  <a:srgbClr val="212121"/>
                </a:solidFill>
              </a:rPr>
              <a:t>- Babelfish (TSQL)</a:t>
            </a:r>
          </a:p>
          <a:p>
            <a:r>
              <a:rPr lang="en-US" sz="1200" dirty="0">
                <a:solidFill>
                  <a:srgbClr val="212121"/>
                </a:solidFill>
              </a:rPr>
              <a:t>- Oracle</a:t>
            </a:r>
          </a:p>
          <a:p>
            <a:r>
              <a:rPr lang="en-US" sz="1200" dirty="0">
                <a:solidFill>
                  <a:srgbClr val="212121"/>
                </a:solidFill>
              </a:rPr>
              <a:t>- MySQL</a:t>
            </a:r>
          </a:p>
          <a:p>
            <a:r>
              <a:rPr lang="en-US" sz="1200" dirty="0">
                <a:solidFill>
                  <a:srgbClr val="212121"/>
                </a:solidFill>
              </a:rPr>
              <a:t>- PostgreSQL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/>
            </a:r>
          </a:p>
          <a:p>
            <a:r>
              <a:rPr lang="en-US" sz="1400" b="1" dirty="0">
                <a:solidFill>
                  <a:srgbClr val="1E2761"/>
                </a:solidFill>
              </a:rPr>
              <a:t>核心价值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/>
            </a:r>
          </a:p>
          <a:p>
            <a:r>
              <a:rPr lang="en-US" sz="1100" dirty="0">
                <a:solidFill>
                  <a:srgbClr val="212121"/>
                </a:solidFill>
              </a:rPr>
              <a:t>异构数据库DDL语法转换与适配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专利提取点分析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03  PATENTS</a:t>
            </a:r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18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专利点1</a:t>
            </a:r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基于逻辑复制的DDL消息化同步框架</a:t>
            </a:r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专利点2</a:t>
            </a:r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发布端/订阅端双向规则过滤机制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专利点3</a:t>
            </a:r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DDL Replay Framework与多数据库Adapter架构</a:t>
            </a:r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专利点4</a:t>
            </a:r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基于pg_publication_sync的DDL复制模型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566160"/>
            <a:ext cx="762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专利点5</a:t>
            </a:r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DDL/DML顺序一致性保证与Barrier机制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竞品分析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03  COMPETITORS</a:t>
            </a:r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19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83840" cy="36576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95400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我们的方案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PostgreSQL DDL Replication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/>
            </a:r>
          </a:p>
          <a:p>
            <a:r>
              <a:rPr lang="en-US" sz="1100" b="1" dirty="0">
                <a:solidFill>
                  <a:srgbClr val="FFFFFF"/>
                </a:solidFill>
              </a:rPr>
              <a:t>✓ DDL精细控制</a:t>
            </a:r>
          </a:p>
          <a:p>
            <a:r>
              <a:rPr lang="en-US" sz="1100" b="1" dirty="0">
                <a:solidFill>
                  <a:srgbClr val="FFFFFF"/>
                </a:solidFill>
              </a:rPr>
              <a:t>✓ publication粒度</a:t>
            </a:r>
          </a:p>
          <a:p>
            <a:r>
              <a:rPr lang="en-US" sz="1100" b="1" dirty="0">
                <a:solidFill>
                  <a:srgbClr val="FFFFFF"/>
                </a:solidFill>
              </a:rPr>
              <a:t>✓ 多数据库适配</a:t>
            </a:r>
          </a:p>
          <a:p>
            <a:r>
              <a:rPr lang="en-US" sz="1100" b="1" dirty="0">
                <a:solidFill>
                  <a:srgbClr val="FFFFFF"/>
                </a:solidFill>
              </a:rPr>
              <a:t>✓ 双向规则过滤</a:t>
            </a:r>
          </a:p>
          <a:p>
            <a:r>
              <a:rPr lang="en-US" sz="1100" b="1" dirty="0">
                <a:solidFill>
                  <a:srgbClr val="FFFFFF"/>
                </a:solidFill>
              </a:rPr>
              <a:t>✓ DDL/DML一致性</a:t>
            </a:r>
          </a:p>
          <a:p>
            <a:r>
              <a:rPr lang="en-US" sz="1100" b="1" dirty="0">
                <a:solidFill>
                  <a:srgbClr val="FFFFFF"/>
                </a:solidFill>
              </a:rPr>
              <a:t>✓ 向后兼容</a:t>
            </a:r>
          </a:p>
          <a:p>
            <a:r>
              <a:rPr lang="en-US" sz="1100" b="1" dirty="0">
                <a:solidFill>
                  <a:srgbClr val="FFFFFF"/>
                </a:solidFill>
              </a:rPr>
              <a:t>✓ 开源社区</a:t>
            </a:r>
          </a:p>
        </p:txBody>
      </p:sp>
      <p:sp>
        <p:nvSpPr>
          <p:cNvPr id="8" name="Shape 6"/>
          <p:cNvSpPr/>
          <p:nvPr/>
        </p:nvSpPr>
        <p:spPr>
          <a:xfrm>
            <a:off x="2610720" y="1188720"/>
            <a:ext cx="2054160" cy="1706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01680" y="1295400"/>
            <a:ext cx="1828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1E2761"/>
                </a:solidFill>
              </a:rPr>
              <a:t>PostgreSQL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/>
            </a:r>
          </a:p>
          <a:p>
            <a:r>
              <a:rPr lang="en-US" sz="1000" dirty="0">
                <a:solidFill>
                  <a:srgbClr val="212121"/>
                </a:solidFill>
              </a:rPr>
              <a:t>✗ 无原生DDL复制</a:t>
            </a:r>
          </a:p>
          <a:p>
            <a:r>
              <a:rPr lang="en-US" sz="1000" dirty="0">
                <a:solidFill>
                  <a:srgbClr val="212121"/>
                </a:solidFill>
              </a:rPr>
              <a:t>✗ 逻辑复制仅支持DML</a:t>
            </a:r>
          </a:p>
          <a:p>
            <a:r>
              <a:rPr lang="en-US" sz="1000" dirty="0">
                <a:solidFill>
                  <a:srgbClr val="212121"/>
                </a:solidFill>
              </a:rPr>
              <a:t>✗ 无多数据库适配</a:t>
            </a:r>
          </a:p>
        </p:txBody>
      </p:sp>
      <p:sp>
        <p:nvSpPr>
          <p:cNvPr id="10" name="Shape 8"/>
          <p:cNvSpPr/>
          <p:nvPr/>
        </p:nvSpPr>
        <p:spPr>
          <a:xfrm>
            <a:off x="4834080" y="1188720"/>
            <a:ext cx="2054160" cy="1706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25040" y="1295400"/>
            <a:ext cx="1828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1E2761"/>
                </a:solidFill>
              </a:rPr>
              <a:t>OpenGauss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/>
            </a:r>
          </a:p>
          <a:p>
            <a:r>
              <a:rPr lang="en-US" sz="1000" dirty="0">
                <a:solidFill>
                  <a:srgbClr val="212121"/>
                </a:solidFill>
              </a:rPr>
              <a:t>✗ 有限DDL同步</a:t>
            </a:r>
          </a:p>
          <a:p>
            <a:r>
              <a:rPr lang="en-US" sz="1000" dirty="0">
                <a:solidFill>
                  <a:srgbClr val="212121"/>
                </a:solidFill>
              </a:rPr>
              <a:t>✗ 商业许可限制</a:t>
            </a:r>
          </a:p>
          <a:p>
            <a:r>
              <a:rPr lang="en-US" sz="1000" dirty="0">
                <a:solidFill>
                  <a:srgbClr val="212121"/>
                </a:solidFill>
              </a:rPr>
              <a:t>✗ 仅华为生态支持</a:t>
            </a:r>
          </a:p>
        </p:txBody>
      </p:sp>
      <p:sp>
        <p:nvSpPr>
          <p:cNvPr id="12" name="Shape 10"/>
          <p:cNvSpPr/>
          <p:nvPr/>
        </p:nvSpPr>
        <p:spPr>
          <a:xfrm>
            <a:off x="7057440" y="1188720"/>
            <a:ext cx="2054160" cy="1706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48400" y="1295400"/>
            <a:ext cx="1828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1E2761"/>
                </a:solidFill>
              </a:rPr>
              <a:t>Kingbase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/>
            </a:r>
          </a:p>
          <a:p>
            <a:r>
              <a:rPr lang="en-US" sz="1000" dirty="0">
                <a:solidFill>
                  <a:srgbClr val="212121"/>
                </a:solidFill>
              </a:rPr>
              <a:t>✗ 闭源商业数据库</a:t>
            </a:r>
          </a:p>
          <a:p>
            <a:r>
              <a:rPr lang="en-US" sz="1000" dirty="0">
                <a:solidFill>
                  <a:srgbClr val="212121"/>
                </a:solidFill>
              </a:rPr>
              <a:t>✗ 无开源社区</a:t>
            </a:r>
          </a:p>
          <a:p>
            <a:r>
              <a:rPr lang="en-US" sz="1000" dirty="0">
                <a:solidFill>
                  <a:srgbClr val="212121"/>
                </a:solidFill>
              </a:rPr>
              <a:t>✗ 复制方案不透明</a:t>
            </a:r>
          </a:p>
        </p:txBody>
      </p:sp>
      <p:sp>
        <p:nvSpPr>
          <p:cNvPr id="14" name="Shape 12"/>
          <p:cNvSpPr/>
          <p:nvPr/>
        </p:nvSpPr>
        <p:spPr>
          <a:xfrm>
            <a:off x="2610720" y="3048240"/>
            <a:ext cx="6496560" cy="1706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01680" y="315492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1E2761"/>
                </a:solidFill>
              </a:rPr>
              <a:t>OceanBase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/>
            </a:r>
          </a:p>
          <a:p>
            <a:r>
              <a:rPr lang="en-US" sz="1000" dirty="0">
                <a:solidFill>
                  <a:srgbClr val="212121"/>
                </a:solidFill>
              </a:rPr>
              <a:t>✗ 原生MySQL兼容模式，无DDL复制方案   |   ✗ 跨数据库复制能力有限   |   ✗ 商业闭源方案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SQL Server 模式适配探索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03  LEARNING JOURNEY</a:t>
            </a:r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83840" cy="320040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95400"/>
            <a:ext cx="1828800" cy="29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起点：未知领域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F9E795"/>
                </a:solidFill>
              </a:rPr>
              <a:t/>
            </a:r>
          </a:p>
          <a:p>
            <a:r>
              <a:rPr lang="en-US" sz="1100" dirty="0">
                <a:solidFill>
                  <a:srgbClr val="FFFFFF"/>
                </a:solidFill>
              </a:rPr>
              <a:t>- 参考资料稀少</a:t>
            </a:r>
          </a:p>
          <a:p>
            <a:r>
              <a:rPr lang="en-US" sz="1100" dirty="0">
                <a:solidFill>
                  <a:srgbClr val="FFFFFF"/>
                </a:solidFill>
              </a:rPr>
              <a:t>- Babelfish逻辑复制方案未经验证</a:t>
            </a:r>
          </a:p>
          <a:p>
            <a:r>
              <a:rPr lang="en-US" sz="1100" dirty="0">
                <a:solidFill>
                  <a:srgbClr val="FFFFFF"/>
                </a:solidFill>
              </a:rPr>
              <a:t>- 缺乏实际案例参考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F9E795"/>
                </a:solidFill>
              </a:rPr>
              <a:t/>
            </a:r>
          </a:p>
          <a:p>
            <a:r>
              <a:rPr lang="en-US" sz="1100" b="1" dirty="0">
                <a:solidFill>
                  <a:srgbClr val="FFFFFF"/>
                </a:solidFill>
              </a:rPr>
              <a:t>核心问题：</a:t>
            </a:r>
          </a:p>
          <a:p>
            <a:r>
              <a:rPr lang="en-US" sz="1100" dirty="0">
                <a:solidFill>
                  <a:srgbClr val="FFFFFF"/>
                </a:solidFill>
              </a:rPr>
              <a:t>Babelfish支持DDL复制吗？边界在哪里？</a:t>
            </a:r>
          </a:p>
        </p:txBody>
      </p:sp>
      <p:sp>
        <p:nvSpPr>
          <p:cNvPr id="8" name="Arrow 1"/>
          <p:cNvSpPr/>
          <p:nvPr/>
        </p:nvSpPr>
        <p:spPr>
          <a:xfrm>
            <a:off x="2514960" y="2667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9" name="Shape 6"/>
          <p:cNvSpPr/>
          <p:nvPr/>
        </p:nvSpPr>
        <p:spPr>
          <a:xfrm>
            <a:off x="2978640" y="1188720"/>
            <a:ext cx="2743200" cy="16002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069600" y="1295400"/>
            <a:ext cx="251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学习阶段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/>
            </a:r>
          </a:p>
          <a:p>
            <a:r>
              <a:rPr lang="en-US" sz="1100" dirty="0">
                <a:solidFill>
                  <a:srgbClr val="FFFFFF"/>
                </a:solidFill>
              </a:rPr>
              <a:t>- 研究Babelfish架构原理</a:t>
            </a:r>
          </a:p>
          <a:p>
            <a:r>
              <a:rPr lang="en-US" sz="1100" dirty="0">
                <a:solidFill>
                  <a:srgbClr val="FFFFFF"/>
                </a:solidFill>
              </a:rPr>
              <a:t>- 分析TDS协议通信机制</a:t>
            </a:r>
          </a:p>
          <a:p>
            <a:r>
              <a:rPr lang="en-US" sz="1100" dirty="0">
                <a:solidFill>
                  <a:srgbClr val="FFFFFF"/>
                </a:solidFill>
              </a:rPr>
              <a:t>- 阅读开源代码与文档</a:t>
            </a:r>
          </a:p>
        </p:txBody>
      </p:sp>
      <p:sp>
        <p:nvSpPr>
          <p:cNvPr id="11" name="Arrow 2"/>
          <p:cNvSpPr/>
          <p:nvPr/>
        </p:nvSpPr>
        <p:spPr>
          <a:xfrm>
            <a:off x="579120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Shape 8"/>
          <p:cNvSpPr/>
          <p:nvPr/>
        </p:nvSpPr>
        <p:spPr>
          <a:xfrm>
            <a:off x="6254160" y="1188720"/>
            <a:ext cx="2743200" cy="16002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345120" y="1295400"/>
            <a:ext cx="251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验证阶段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/>
            </a:r>
          </a:p>
          <a:p>
            <a:r>
              <a:rPr lang="en-US" sz="1100" dirty="0">
                <a:solidFill>
                  <a:srgbClr val="FFFFFF"/>
                </a:solidFill>
              </a:rPr>
              <a:t>- 搭建测试环境验证</a:t>
            </a:r>
          </a:p>
          <a:p>
            <a:r>
              <a:rPr lang="en-US" sz="1100" dirty="0">
                <a:solidFill>
                  <a:srgbClr val="FFFFFF"/>
                </a:solidFill>
              </a:rPr>
              <a:t>- 测试DDL边界与限制</a:t>
            </a:r>
          </a:p>
          <a:p>
            <a:r>
              <a:rPr lang="en-US" sz="1100" dirty="0">
                <a:solidFill>
                  <a:srgbClr val="FFFFFF"/>
                </a:solidFill>
              </a:rPr>
              <a:t>- 发现关键问题点</a:t>
            </a:r>
          </a:p>
        </p:txBody>
      </p:sp>
      <p:sp>
        <p:nvSpPr>
          <p:cNvPr id="14" name="Shape 10"/>
          <p:cNvSpPr/>
          <p:nvPr/>
        </p:nvSpPr>
        <p:spPr>
          <a:xfrm>
            <a:off x="2978640" y="2971800"/>
            <a:ext cx="6018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069600" y="307848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1E2761"/>
                </a:solidFill>
              </a:rPr>
              <a:t>关键发现：</a:t>
            </a:r>
          </a:p>
          <a:p>
            <a:r>
              <a:rPr lang="en-US" sz="1100" dirty="0">
                <a:solidFill>
                  <a:srgbClr val="212121"/>
                </a:solidFill>
              </a:rPr>
              <a:t>- Babelfish 对 DDL 支持有限制  |  - 需区分 T-SQL 与 ANSI SQL 语法  |  - Schema 映射需要特殊处理</a:t>
            </a:r>
          </a:p>
        </p:txBody>
      </p:sp>
      <p:sp>
        <p:nvSpPr>
          <p:cNvPr id="16" name="Arrow 3"/>
          <p:cNvSpPr/>
          <p:nvPr/>
        </p:nvSpPr>
        <p:spPr>
          <a:xfrm>
            <a:off x="5791200" y="32004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Shape 12"/>
          <p:cNvSpPr/>
          <p:nvPr/>
        </p:nvSpPr>
        <p:spPr>
          <a:xfrm>
            <a:off x="2978640" y="4034160"/>
            <a:ext cx="601824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3069600" y="414084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FFFFFF"/>
                </a:solidFill>
              </a:rPr>
              <a:t>设计方案：</a:t>
            </a:r>
          </a:p>
          <a:p>
            <a:r>
              <a:rPr lang="en-US" sz="1100" dirty="0">
                <a:solidFill>
                  <a:srgbClr val="CADCFC"/>
                </a:solidFill>
              </a:rPr>
              <a:t>- DDL语法适配层（转换T-SQL→PostgreSQL兼容语法）  |  - 类型映射规则表  |  - Schema映射策略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使用AI开发的错觉与正确姿态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E795"/>
                </a:solidFill>
              </a:rPr>
              <a:t>03  AI MYTHS &amp; BEST PRACTICES</a:t>
            </a:r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21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14800" cy="381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错觉</a:t>
            </a:r>
          </a:p>
        </p:txBody>
      </p:sp>
      <p:sp>
        <p:nvSpPr>
          <p:cNvPr id="8" name="Shape 6"/>
          <p:cNvSpPr/>
          <p:nvPr/>
        </p:nvSpPr>
        <p:spPr>
          <a:xfrm>
            <a:off x="4724400" y="1051560"/>
            <a:ext cx="4114800" cy="381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7244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正确姿态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15240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6002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错觉：AI可以完全理解需求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AI缺乏真正的理解能力，只能生成看似合理但可能完全错误的代码</a:t>
            </a:r>
          </a:p>
        </p:txBody>
      </p:sp>
      <p:sp>
        <p:nvSpPr>
          <p:cNvPr id="12" name="Shape 10"/>
          <p:cNvSpPr/>
          <p:nvPr/>
        </p:nvSpPr>
        <p:spPr>
          <a:xfrm>
            <a:off x="4724400" y="15240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26000" y="16002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任务拆解粒度更细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将复杂任务拆解为最小可执行单元，每个Step只做一件事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" y="21336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2098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错觉：AI生成的代码不需要检查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AI会产生幻觉、错误逻辑和边界情况，必须人工验证每一行代码</a:t>
            </a:r>
          </a:p>
        </p:txBody>
      </p:sp>
      <p:sp>
        <p:nvSpPr>
          <p:cNvPr id="16" name="Shape 14"/>
          <p:cNvSpPr/>
          <p:nvPr/>
        </p:nvSpPr>
        <p:spPr>
          <a:xfrm>
            <a:off x="4724400" y="21336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6000" y="22098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写详细的步骤文档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提供详细的操作步骤、输入输出示例，让AI按图索骥执行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8194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错觉：AI可以替代程序员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AI是放大人力的工具，而非替代品——它不知疲倦，但不思考为什么</a:t>
            </a:r>
          </a:p>
        </p:txBody>
      </p:sp>
      <p:sp>
        <p:nvSpPr>
          <p:cNvPr id="20" name="Shape 18"/>
          <p:cNvSpPr/>
          <p:nvPr/>
        </p:nvSpPr>
        <p:spPr>
          <a:xfrm>
            <a:off x="4724400" y="27432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6000" y="28194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让AI执行重复测试验证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利用AI不知疲倦的特性，让它执行大量重复性测试用例，发现边界问题</a:t>
            </a:r>
          </a:p>
        </p:txBody>
      </p:sp>
      <p:sp>
        <p:nvSpPr>
          <p:cNvPr id="22" name="Shape 20"/>
          <p:cNvSpPr/>
          <p:nvPr/>
        </p:nvSpPr>
        <p:spPr>
          <a:xfrm>
            <a:off x="457200" y="33528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4290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错觉：AI总是最快的解决方案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有时简单方案更优，AI只是增加开销和复杂度</a:t>
            </a:r>
          </a:p>
        </p:txBody>
      </p:sp>
      <p:sp>
        <p:nvSpPr>
          <p:cNvPr id="24" name="Shape 22"/>
          <p:cNvSpPr/>
          <p:nvPr/>
        </p:nvSpPr>
        <p:spPr>
          <a:xfrm>
            <a:off x="4724400" y="33528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26000" y="34290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对AI代码进行重构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AI生成的代码往往冗余、缺乏架构，重构是必要的优化步骤</a:t>
            </a:r>
          </a:p>
        </p:txBody>
      </p:sp>
      <p:sp>
        <p:nvSpPr>
          <p:cNvPr id="26" name="Shape 24"/>
          <p:cNvSpPr/>
          <p:nvPr/>
        </p:nvSpPr>
        <p:spPr>
          <a:xfrm>
            <a:off x="457200" y="39624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0386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错觉：AI知道什么是正确的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AI没有ground truth，只能做模式匹配——它不知道什么是真正正确的</a:t>
            </a:r>
          </a:p>
        </p:txBody>
      </p:sp>
      <p:sp>
        <p:nvSpPr>
          <p:cNvPr id="28" name="Shape 26"/>
          <p:cNvSpPr/>
          <p:nvPr/>
        </p:nvSpPr>
        <p:spPr>
          <a:xfrm>
            <a:off x="4724400" y="39624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26000" y="40386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关注架构，AI作为低级实现工具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架构设计由人负责，AI只作为不知疲倦的实现工程师和测试执行者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建设性意见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03  ADVICE</a:t>
            </a:r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22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14800" cy="381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开发过程建议</a:t>
            </a:r>
          </a:p>
        </p:txBody>
      </p:sp>
      <p:sp>
        <p:nvSpPr>
          <p:cNvPr id="8" name="Shape 6"/>
          <p:cNvSpPr/>
          <p:nvPr/>
        </p:nvSpPr>
        <p:spPr>
          <a:xfrm>
            <a:off x="4724400" y="1051560"/>
            <a:ext cx="4114800" cy="381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47244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个人发展建议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15240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6002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先验证假设，再设计方案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在未知领域，先搭建环境做实验，摸清边界后再设计解决方案</a:t>
            </a:r>
          </a:p>
        </p:txBody>
      </p:sp>
      <p:sp>
        <p:nvSpPr>
          <p:cNvPr id="12" name="Shape 10"/>
          <p:cNvSpPr/>
          <p:nvPr/>
        </p:nvSpPr>
        <p:spPr>
          <a:xfrm>
            <a:off x="4724400" y="15240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26000" y="16002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深耕基础，建立知识体系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地基扎实才能建高楼，系统性知识比零散技巧更有价值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" y="21336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2098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小步快跑，快速迭代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大拆解为小任务，MVP优先验证，渐进式完善功能</a:t>
            </a:r>
          </a:p>
        </p:txBody>
      </p:sp>
      <p:sp>
        <p:nvSpPr>
          <p:cNvPr id="16" name="Shape 14"/>
          <p:cNvSpPr/>
          <p:nvPr/>
        </p:nvSpPr>
        <p:spPr>
          <a:xfrm>
            <a:off x="4724400" y="21336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6000" y="22098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保持好奇，持续学习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技术更迭迅速，持续学习新技术、新方法，保持竞争力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8194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文档与代码同等重要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设计文档是团队协作的基础，也是知识传承的载体</a:t>
            </a:r>
          </a:p>
        </p:txBody>
      </p:sp>
      <p:sp>
        <p:nvSpPr>
          <p:cNvPr id="20" name="Shape 18"/>
          <p:cNvSpPr/>
          <p:nvPr/>
        </p:nvSpPr>
        <p:spPr>
          <a:xfrm>
            <a:off x="4724400" y="27432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6000" y="28194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培养系统性思维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从全局视角理解系统，设计时考虑扩展性、可维护性</a:t>
            </a:r>
          </a:p>
        </p:txBody>
      </p:sp>
      <p:sp>
        <p:nvSpPr>
          <p:cNvPr id="22" name="Shape 20"/>
          <p:cNvSpPr/>
          <p:nvPr/>
        </p:nvSpPr>
        <p:spPr>
          <a:xfrm>
            <a:off x="457200" y="33528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4290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复盘是最好的学习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项目结束后及时总结，提炼经验教训，避免重复踩坑</a:t>
            </a:r>
          </a:p>
        </p:txBody>
      </p:sp>
      <p:sp>
        <p:nvSpPr>
          <p:cNvPr id="24" name="Shape 22"/>
          <p:cNvSpPr/>
          <p:nvPr/>
        </p:nvSpPr>
        <p:spPr>
          <a:xfrm>
            <a:off x="4724400" y="33528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26000" y="34290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善用工具，提升效率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AI、自动化工具是助手而非替代品，工具为人服务</a:t>
            </a:r>
          </a:p>
        </p:txBody>
      </p:sp>
      <p:sp>
        <p:nvSpPr>
          <p:cNvPr id="26" name="Shape 24"/>
          <p:cNvSpPr/>
          <p:nvPr/>
        </p:nvSpPr>
        <p:spPr>
          <a:xfrm>
            <a:off x="457200" y="39624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0386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质量优先于速度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代码质量决定后续维护成本，宁可慢一点，也要正确</a:t>
            </a:r>
          </a:p>
        </p:txBody>
      </p:sp>
      <p:sp>
        <p:nvSpPr>
          <p:cNvPr id="28" name="Shape 26"/>
          <p:cNvSpPr/>
          <p:nvPr/>
        </p:nvSpPr>
        <p:spPr>
          <a:xfrm>
            <a:off x="4724400" y="3962400"/>
            <a:ext cx="4114800" cy="53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26000" y="4038600"/>
            <a:ext cx="3886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沟通能力决定影响力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技术之外，清晰表达和团队协作同样决定个人价值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DDL Sync Worker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03  INCREMENTAL DDL SYNC</a:t>
            </a:r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23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381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E795"/>
                </a:solidFill>
              </a:rPr>
              <a:t>类比 Table Sync Worker</a:t>
            </a:r>
            <a:r>
              <a:rPr lang="en-US" sz="1200" dirty="0">
                <a:solidFill>
                  <a:srgbClr val="CADCFC"/>
                </a:solidFill>
              </a:rPr>
              <a:t> — DDL Sync Worker 负责增量DDL的捕获、同步与应用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1524000"/>
            <a:ext cx="4114800" cy="2514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600200"/>
            <a:ext cx="36576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Worker 职责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</a:rPr>
              <a:t>DDL Capture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监听DDL变更事件，捕获到pg_publication_sync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DDL Transform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将DDL转换为目标数据库兼容语法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DDL Apply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在订阅端执行DDL语句，维护复制一致性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</a:rPr>
              <a:t>DDL Sync State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记录同步进度，支持断点续传和幂等重试</a:t>
            </a:r>
          </a:p>
        </p:txBody>
      </p:sp>
      <p:sp>
        <p:nvSpPr>
          <p:cNvPr id="10" name="Shape 9"/>
          <p:cNvSpPr/>
          <p:nvPr/>
        </p:nvSpPr>
        <p:spPr>
          <a:xfrm>
            <a:off x="4724400" y="1524000"/>
            <a:ext cx="4114800" cy="2514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10"/>
          <p:cNvSpPr/>
          <p:nvPr/>
        </p:nvSpPr>
        <p:spPr>
          <a:xfrm>
            <a:off x="4826000" y="1600200"/>
            <a:ext cx="38862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与 Table Sync Worker 对比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F9E795"/>
                </a:solidFill>
              </a:rPr>
              <a:t>相似点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独立Worker进程  |  增量同步  |  状态持久化  |  故障恢复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</a:rPr>
              <a:t>差异点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Table Sync: 数据同步  |  DDL Sync: 结构同步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Table Sync: DML捕获  |  DDL Sync: DDL捕获+Replay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DDL Sync需要处理语法转换和依赖关系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核心挑战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DDL/DML顺序一致性  |  Schema依赖处理  |  多数据库适配</a:t>
            </a:r>
          </a:p>
        </p:txBody>
      </p:sp>
      <p:sp>
        <p:nvSpPr>
          <p:cNvPr id="12" name="Shape 12"/>
          <p:cNvSpPr/>
          <p:nvPr/>
        </p:nvSpPr>
        <p:spPr>
          <a:xfrm>
            <a:off x="457200" y="4139520"/>
            <a:ext cx="8229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3"/>
          <p:cNvSpPr/>
          <p:nvPr/>
        </p:nvSpPr>
        <p:spPr>
          <a:xfrm>
            <a:off x="457200" y="4228880"/>
            <a:ext cx="8229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愿景：</a:t>
            </a:r>
            <a:r>
              <a:rPr lang="en-US" sz="1200" dirty="0">
                <a:solidFill>
                  <a:srgbClr val="02C39A"/>
                </a:solidFill>
              </a:rPr>
              <a:t>与Table Sync Worker配合，实现数据+结构的全量增量同步能力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逻辑复制支持DDL功能开发总结</dc:title>
  <dc:subject>PptxGenJS Presentation</dc:subject>
  <dc:creator>PostgreSQL Team</dc:creator>
  <cp:lastModifiedBy>PostgreSQL Team</cp:lastModifiedBy>
  <cp:revision>1</cp:revision>
  <dcterms:created xsi:type="dcterms:W3CDTF">2026-06-08T07:00:07Z</dcterms:created>
  <dcterms:modified xsi:type="dcterms:W3CDTF">2026-06-08T07:00:07Z</dcterms:modified>
</cp:coreProperties>
</file>